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51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here to talk about CheckLink, our secure URL safety checker. Every day, people click links without knowing if they're safe, and CheckLink helps them quickly assess that risk. But our ambition was bigger than just building an app; we wanted to deliver it like a real company would, focusing on security, automation, cost-awareness, and monitoring. This approach ensures CheckLink isn't just functional, but also robust and trustworthy. Let's dive into the problem we're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simple link can create a big risk, and it's a multi-faceted problem. For users, it's hard to know if a link is safe before clicking, exposing them to phishing and malware. For businesses, phishing attacks can severely damage trust and lead to costly incidents. And from an engineering perspective, a working application isn't enough if its deployment is insecure and unreliable. The real issue isn't just unsafe links; it's also about unsafe and unreliable software delivery. But we've engineered a solution that addresses these risks head-on.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why DevOps matters so much for a project like CheckLink. It transforms software delivery, making it faster, safer, cheaper to operate, and easier to improve. We moved from a traditional approach of manual deployments and public exposure to an automated delivery system with private infrastructure, comprehensive monitoring, and repeatable deployments. This shift means we've gone from 'it works on my machine' to 'it works reliably for real users.' Now, let's look at how we built this secure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CheckLink for a simple user experience, but it's backed by serious engineering. Users simply paste a URL, we instantly analyze it, and then provide clear safety feedback. Our analysis considers factors like URL length, suspicious patterns, typo-squatting, and link format indicators. Behind this simplicity lies a robust cloud engineering stack, built with security, automation, and monitoring at its core. This blend of user-friendliness and technical rigor is where DevOps truly shines.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for CheckLink is a prime example of a public application with a private system. We ensure only one controlled entry point is public, keeping everything important private and secure. User requests hit our Azure Web Application Firewall, then route through internal load balancers to private virtual machines. Our Azure SQL database and Key Vault are further isolated with private endpoints, meaning no public IPs on our application VMs. This design protects against external threats and ensures our data remains secure. Next, we'll explore how automation underpins this secure delivery.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saw how we keep our system private. Now, let's talk about how we build and deliver CheckLink with speed and precision. Automation is key to faster delivery and significantly reduces human error. We use Terraform for infrastructure, Ansible for configuration, and GitHub Actions for our CI/CD pipeline. This means faster releases, less manual work, and more predictable deployments. Our self-hosted runners ensure secure deployments within our private network. And this automation also lays the groundwork for robust security, which we'll discuss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automated delivery, security isn't an afterthought; it's baked into CheckLink's core architecture. We designed security in from day one, not as an add-on. Our Azure WAF v2 is the only public entry point, filtering malicious traffic before it reaches our system. All our virtual machines have no public IPs, and we use private endpoints for Azure SQL and Key Vault, ensuring zero-trust access. This approach gives us enhanced trust, safer data access, and a truly professional deployment model. But even with the best security, we need to know when things go wrong, which brings us to monitoring.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built a secure and automated system. But how do we know it's actually working as expected? We need to find problems before our users ever do. We use Azure Monitor, Application Insights, and Log Analytics to give us full observability. We track critical metrics like WAF health, VM CPU usage, SQL utilization, and application errors. This proactive response reduces downtime risk and ensures a seamless user experience. And this continuous monitoring also helps us optimize our resources, which is crucial for cost efficiency.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our monitoring in place, we can now focus on avoiding waste in the cloud. This isn't just about saving money; it's about smart, sustainable operations. We use a NAT Gateway to centralize outbound access, eliminating the need for expensive public IPs on every VM. Terraform allows us to create, scale, and destroy resources cleanly, preventing 'zombie' resources. And continuous monitoring helps us right-size our resources, ensuring we pay only for what we need. This gives us lower operational waste, a scalable foundation, and cleaner operations overall.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avoiding waste, and now we're bringing it all together. This isn't just a demo; it's a fully production-ready system. We built CheckLink with security, automation, and monitoring baked in from day one. This means the application isn't just functional; it's robust, reliable, and ready for real-world use. It's a system that works, not just an app that runs. Next, let's look at the team that made this possible.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system like this takes a focused team, and that's exactly what we had. Our four-person team, each with clear ownership, collaborated seamlessly. This clear division of labor and strong communication led to fast troubleshooting and a shared focus on production principles. We also learned valuable lessons, like the need for earlier demo planning and more structured task tracking, which will make our next project even smoother. Now, let's see this system in action.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live proof. We'll demonstrate the working web application, show its trusted HTTPS certificate, and even walk through our GitHub Actions pipeline and SonarQube quality scan. This isn't just about CheckLink; it's about the secure cloud delivery system we built around it. We've created a solution that is secure, automated, and continuously monitored, proving our commitment to robust engineering.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4.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e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4.png"/><Relationship Id="rId1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jpe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jpe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4.png"/><Relationship Id="rId1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0.jpe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4.png"/><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4.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9.jpe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image" Target="../media/image50.png"/><Relationship Id="rId15" Type="http://schemas.openxmlformats.org/officeDocument/2006/relationships/image" Target="../media/image4.png"/><Relationship Id="rId1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1.jpe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4.png"/><Relationship Id="rId1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0.jpe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4.png"/><Relationship Id="rId8"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4.jpe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74.png"/><Relationship Id="rId14" Type="http://schemas.openxmlformats.org/officeDocument/2006/relationships/image" Target="../media/image75.png"/><Relationship Id="rId15" Type="http://schemas.openxmlformats.org/officeDocument/2006/relationships/image" Target="../media/image76.png"/><Relationship Id="rId16" Type="http://schemas.openxmlformats.org/officeDocument/2006/relationships/image" Target="../media/image4.png"/><Relationship Id="rId17"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7.jpe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3.png"/><Relationship Id="rId10" Type="http://schemas.openxmlformats.org/officeDocument/2006/relationships/image" Target="../media/image4.png"/><Relationship Id="rId1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2" y="0"/>
            <a:ext cx="9144000" cy="5143500"/>
          </a:xfrm>
          <a:prstGeom prst="rect">
            <a:avLst/>
          </a:prstGeom>
        </p:spPr>
      </p:pic>
      <p:pic>
        <p:nvPicPr>
          <p:cNvPr id="4" name="Image 1" descr="preencoded.png"/>
          <p:cNvPicPr>
            <a:picLocks noChangeAspect="1"/>
          </p:cNvPicPr>
          <p:nvPr/>
        </p:nvPicPr>
        <p:blipFill>
          <a:blip r:embed="rId4">
            <a:alphaModFix amt="60000"/>
          </a:blip>
          <a:stretch>
            <a:fillRect/>
          </a:stretch>
        </p:blipFill>
        <p:spPr>
          <a:xfrm>
            <a:off x="-2" y="23126"/>
            <a:ext cx="9144000" cy="5143500"/>
          </a:xfrm>
          <a:prstGeom prst="rect">
            <a:avLst/>
          </a:prstGeom>
        </p:spPr>
      </p:pic>
      <p:sp>
        <p:nvSpPr>
          <p:cNvPr id="5" name="Text 0"/>
          <p:cNvSpPr/>
          <p:nvPr/>
        </p:nvSpPr>
        <p:spPr>
          <a:xfrm>
            <a:off x="1357313" y="719300"/>
            <a:ext cx="6429375" cy="1107996"/>
          </a:xfrm>
          <a:prstGeom prst="rect">
            <a:avLst/>
          </a:prstGeom>
          <a:noFill/>
          <a:ln/>
        </p:spPr>
        <p:txBody>
          <a:bodyPr wrap="square" lIns="0" tIns="0" rIns="0" bIns="0" rtlCol="0" anchor="t">
            <a:spAutoFit/>
          </a:bodyPr>
          <a:lstStyle/>
          <a:p>
            <a:pPr marL="0" indent="0" algn="ctr">
              <a:buNone/>
            </a:pPr>
            <a:r>
              <a:rPr lang="en-US" sz="7200" b="1" kern="0" spc="-2" dirty="0">
                <a:solidFill>
                  <a:srgbClr val="00B0F0"/>
                </a:solidFill>
                <a:latin typeface="Inter ExtraBold" pitchFamily="34" charset="0"/>
                <a:ea typeface="Inter ExtraBold" pitchFamily="34" charset="-122"/>
                <a:cs typeface="Inter ExtraBold" pitchFamily="34" charset="-120"/>
              </a:rPr>
              <a:t>Link Guardian</a:t>
            </a:r>
            <a:endParaRPr lang="en-US" sz="7200" dirty="0">
              <a:solidFill>
                <a:srgbClr val="00B0F0"/>
              </a:solidFill>
            </a:endParaRPr>
          </a:p>
        </p:txBody>
      </p:sp>
      <p:sp>
        <p:nvSpPr>
          <p:cNvPr id="6" name="Text 1"/>
          <p:cNvSpPr/>
          <p:nvPr/>
        </p:nvSpPr>
        <p:spPr>
          <a:xfrm>
            <a:off x="1357313" y="1790888"/>
            <a:ext cx="6429375" cy="369332"/>
          </a:xfrm>
          <a:prstGeom prst="rect">
            <a:avLst/>
          </a:prstGeom>
          <a:noFill/>
          <a:ln/>
        </p:spPr>
        <p:txBody>
          <a:bodyPr wrap="square" lIns="0" tIns="0" rIns="0" bIns="0" rtlCol="0" anchor="t">
            <a:spAutoFit/>
          </a:bodyPr>
          <a:lstStyle/>
          <a:p>
            <a:pPr marL="0" indent="0" algn="ctr">
              <a:buNone/>
            </a:pPr>
            <a:r>
              <a:rPr lang="en-US" sz="1700" kern="0" spc="2" noProof="1">
                <a:solidFill>
                  <a:schemeClr val="bg1"/>
                </a:solidFill>
                <a:latin typeface="Inter Light" pitchFamily="34" charset="0"/>
                <a:ea typeface="Inter Light" pitchFamily="34" charset="-122"/>
                <a:cs typeface="Inter Light" pitchFamily="34" charset="-120"/>
              </a:rPr>
              <a:t>SECURE URL SAFETY CHECKER made by </a:t>
            </a:r>
            <a:r>
              <a:rPr lang="en-US" sz="2400" kern="0" spc="2" noProof="1">
                <a:solidFill>
                  <a:srgbClr val="00B050"/>
                </a:solidFill>
                <a:latin typeface="Inter Light" pitchFamily="34" charset="0"/>
                <a:ea typeface="Inter Light" pitchFamily="34" charset="-122"/>
                <a:cs typeface="Inter Light" pitchFamily="34" charset="-120"/>
              </a:rPr>
              <a:t>InfraSquad</a:t>
            </a:r>
            <a:endParaRPr lang="en-US" sz="2400" noProof="1">
              <a:solidFill>
                <a:srgbClr val="00B050"/>
              </a:solidFill>
            </a:endParaRPr>
          </a:p>
        </p:txBody>
      </p:sp>
      <p:sp>
        <p:nvSpPr>
          <p:cNvPr id="7" name="Shape 2"/>
          <p:cNvSpPr/>
          <p:nvPr/>
        </p:nvSpPr>
        <p:spPr>
          <a:xfrm>
            <a:off x="1357312" y="2594876"/>
            <a:ext cx="6429375" cy="1238831"/>
          </a:xfrm>
          <a:prstGeom prst="rect">
            <a:avLst/>
          </a:prstGeom>
          <a:solidFill>
            <a:srgbClr val="FFFFFF">
              <a:alpha val="5000"/>
            </a:srgbClr>
          </a:solidFill>
          <a:ln w="9144">
            <a:solidFill>
              <a:srgbClr val="FFFFFF">
                <a:alpha val="10000"/>
              </a:srgbClr>
            </a:solidFill>
            <a:prstDash val="solid"/>
          </a:ln>
        </p:spPr>
        <p:txBody>
          <a:bodyPr/>
          <a:lstStyle/>
          <a:p>
            <a:endParaRPr lang="en-US"/>
          </a:p>
        </p:txBody>
      </p:sp>
      <p:sp>
        <p:nvSpPr>
          <p:cNvPr id="8" name="Text 3"/>
          <p:cNvSpPr/>
          <p:nvPr/>
        </p:nvSpPr>
        <p:spPr>
          <a:xfrm>
            <a:off x="1714498" y="2700312"/>
            <a:ext cx="5715000" cy="849784"/>
          </a:xfrm>
          <a:prstGeom prst="rect">
            <a:avLst/>
          </a:prstGeom>
          <a:noFill/>
          <a:ln/>
        </p:spPr>
        <p:txBody>
          <a:bodyPr wrap="square" lIns="0" tIns="0" rIns="0" bIns="0" rtlCol="0" anchor="t">
            <a:spAutoFit/>
          </a:bodyPr>
          <a:lstStyle/>
          <a:p>
            <a:pPr marL="0" indent="0" algn="ctr">
              <a:lnSpc>
                <a:spcPct val="128000"/>
              </a:lnSpc>
              <a:buNone/>
            </a:pPr>
            <a:r>
              <a:rPr lang="en-US" sz="1100" dirty="0">
                <a:solidFill>
                  <a:srgbClr val="FFFFFF"/>
                </a:solidFill>
                <a:latin typeface="Inter Light" pitchFamily="34" charset="0"/>
                <a:ea typeface="Inter Light" pitchFamily="34" charset="-122"/>
                <a:cs typeface="Inter Light" pitchFamily="34" charset="-120"/>
              </a:rPr>
              <a:t>Every day, people click links without knowing if they are safe. 
CheckLink helps users quickly check whether a URL looks suspicious. 
 Our goal was bigger than building a website: 
we delivered it like a real company would—Securely, Automatically, Cost-aware, and Monitored.</a:t>
            </a:r>
            <a:endParaRPr lang="en-US" sz="1100" dirty="0"/>
          </a:p>
        </p:txBody>
      </p:sp>
      <p:sp>
        <p:nvSpPr>
          <p:cNvPr id="9" name="Text 4"/>
          <p:cNvSpPr/>
          <p:nvPr/>
        </p:nvSpPr>
        <p:spPr>
          <a:xfrm>
            <a:off x="557212" y="4736306"/>
            <a:ext cx="2499497" cy="115416"/>
          </a:xfrm>
          <a:prstGeom prst="rect">
            <a:avLst/>
          </a:prstGeom>
          <a:noFill/>
          <a:ln/>
        </p:spPr>
        <p:txBody>
          <a:bodyPr wrap="square" lIns="0" tIns="0" rIns="0" bIns="0" rtlCol="0" anchor="t">
            <a:spAutoFit/>
          </a:bodyPr>
          <a:lstStyle/>
          <a:p>
            <a:r>
              <a:rPr lang="en-US" sz="750" dirty="0">
                <a:solidFill>
                  <a:schemeClr val="bg1"/>
                </a:solidFill>
                <a:latin typeface="Inter Light" pitchFamily="34" charset="0"/>
                <a:ea typeface="Inter Light" pitchFamily="34" charset="-122"/>
                <a:cs typeface="Inter Light" pitchFamily="34" charset="-120"/>
              </a:rPr>
              <a:t>https://casp-linkguardian.duckdns.org/</a:t>
            </a:r>
            <a:endParaRPr lang="en-US" sz="750" dirty="0">
              <a:solidFill>
                <a:schemeClr val="bg1"/>
              </a:solidFill>
            </a:endParaRPr>
          </a:p>
        </p:txBody>
      </p:sp>
      <p:pic>
        <p:nvPicPr>
          <p:cNvPr id="10" name="Image 2" descr="preencoded.png"/>
          <p:cNvPicPr>
            <a:picLocks noChangeAspect="1"/>
          </p:cNvPicPr>
          <p:nvPr/>
        </p:nvPicPr>
        <p:blipFill>
          <a:blip r:embed="rId5"/>
          <a:stretch>
            <a:fillRect/>
          </a:stretch>
        </p:blipFill>
        <p:spPr>
          <a:xfrm>
            <a:off x="6984802" y="4747022"/>
            <a:ext cx="87511" cy="100013"/>
          </a:xfrm>
          <a:prstGeom prst="rect">
            <a:avLst/>
          </a:prstGeom>
        </p:spPr>
      </p:pic>
      <p:sp>
        <p:nvSpPr>
          <p:cNvPr id="11" name="Text 5"/>
          <p:cNvSpPr/>
          <p:nvPr/>
        </p:nvSpPr>
        <p:spPr>
          <a:xfrm>
            <a:off x="7143750" y="4736306"/>
            <a:ext cx="1571625" cy="115416"/>
          </a:xfrm>
          <a:prstGeom prst="rect">
            <a:avLst/>
          </a:prstGeom>
          <a:noFill/>
          <a:ln/>
        </p:spPr>
        <p:txBody>
          <a:bodyPr wrap="square" lIns="0" tIns="0" rIns="0" bIns="0" rtlCol="0" anchor="t">
            <a:spAutoFit/>
          </a:bodyPr>
          <a:lstStyle/>
          <a:p>
            <a:pPr marL="0" indent="0" algn="l">
              <a:buNone/>
            </a:pPr>
            <a:r>
              <a:rPr lang="en-US" sz="750" dirty="0">
                <a:solidFill>
                  <a:schemeClr val="bg1"/>
                </a:solidFill>
                <a:latin typeface="Inter Light" pitchFamily="34" charset="0"/>
                <a:ea typeface="Inter Light" pitchFamily="34" charset="-122"/>
                <a:cs typeface="Inter Light" pitchFamily="34" charset="-120"/>
              </a:rPr>
              <a:t>Trusted HTTPS with Let's Encrypt</a:t>
            </a:r>
            <a:endParaRPr lang="en-US" sz="750" dirty="0">
              <a:solidFill>
                <a:schemeClr val="bg1"/>
              </a:solidFill>
            </a:endParaRPr>
          </a:p>
        </p:txBody>
      </p:sp>
      <p:sp>
        <p:nvSpPr>
          <p:cNvPr id="2" name="Shape 11">
            <a:extLst>
              <a:ext uri="{FF2B5EF4-FFF2-40B4-BE49-F238E27FC236}">
                <a16:creationId xmlns:a16="http://schemas.microsoft.com/office/drawing/2014/main" id="{6F7EBAA7-53E2-23F5-9E79-9E44D8BCB7AB}"/>
              </a:ext>
            </a:extLst>
          </p:cNvPr>
          <p:cNvSpPr/>
          <p:nvPr/>
        </p:nvSpPr>
        <p:spPr>
          <a:xfrm>
            <a:off x="985487" y="4205054"/>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Mahammad Mammadov</a:t>
            </a:r>
          </a:p>
        </p:txBody>
      </p:sp>
      <p:sp>
        <p:nvSpPr>
          <p:cNvPr id="12" name="Shape 11">
            <a:extLst>
              <a:ext uri="{FF2B5EF4-FFF2-40B4-BE49-F238E27FC236}">
                <a16:creationId xmlns:a16="http://schemas.microsoft.com/office/drawing/2014/main" id="{BDBF0AEE-85EA-DC35-E6C5-C62A8CB79959}"/>
              </a:ext>
            </a:extLst>
          </p:cNvPr>
          <p:cNvSpPr/>
          <p:nvPr/>
        </p:nvSpPr>
        <p:spPr>
          <a:xfrm>
            <a:off x="2813578" y="4199377"/>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Mahammad Suleymanli</a:t>
            </a:r>
          </a:p>
        </p:txBody>
      </p:sp>
      <p:sp>
        <p:nvSpPr>
          <p:cNvPr id="14" name="Shape 11">
            <a:extLst>
              <a:ext uri="{FF2B5EF4-FFF2-40B4-BE49-F238E27FC236}">
                <a16:creationId xmlns:a16="http://schemas.microsoft.com/office/drawing/2014/main" id="{FE4E9C76-854D-E5A7-B9F9-31A91C110C1F}"/>
              </a:ext>
            </a:extLst>
          </p:cNvPr>
          <p:cNvSpPr/>
          <p:nvPr/>
        </p:nvSpPr>
        <p:spPr>
          <a:xfrm>
            <a:off x="4641669" y="4206363"/>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Ravan Quliyev</a:t>
            </a:r>
          </a:p>
        </p:txBody>
      </p:sp>
      <p:sp>
        <p:nvSpPr>
          <p:cNvPr id="16" name="Shape 11">
            <a:extLst>
              <a:ext uri="{FF2B5EF4-FFF2-40B4-BE49-F238E27FC236}">
                <a16:creationId xmlns:a16="http://schemas.microsoft.com/office/drawing/2014/main" id="{E8B34374-0C25-EA54-7D9E-ECC78F6690EF}"/>
              </a:ext>
            </a:extLst>
          </p:cNvPr>
          <p:cNvSpPr/>
          <p:nvPr/>
        </p:nvSpPr>
        <p:spPr>
          <a:xfrm>
            <a:off x="6507258" y="4201299"/>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Lala Imamhuseynova</a:t>
            </a:r>
          </a:p>
        </p:txBody>
      </p:sp>
      <p:pic>
        <p:nvPicPr>
          <p:cNvPr id="17" name="Picture 16" descr="idda_en_clean2.png"/>
          <p:cNvPicPr>
            <a:picLocks noChangeAspect="1"/>
          </p:cNvPicPr>
          <p:nvPr/>
        </p:nvPicPr>
        <p:blipFill>
          <a:blip r:embed="rId6"/>
          <a:stretch>
            <a:fillRect/>
          </a:stretch>
        </p:blipFill>
        <p:spPr>
          <a:xfrm>
            <a:off x="274320" y="182880"/>
            <a:ext cx="1280160" cy="843999"/>
          </a:xfrm>
          <a:prstGeom prst="rect">
            <a:avLst/>
          </a:prstGeom>
        </p:spPr>
      </p:pic>
      <p:pic>
        <p:nvPicPr>
          <p:cNvPr id="18" name="Picture 17" descr="ironhack.png"/>
          <p:cNvPicPr>
            <a:picLocks noChangeAspect="1"/>
          </p:cNvPicPr>
          <p:nvPr/>
        </p:nvPicPr>
        <p:blipFill>
          <a:blip r:embed="rId7"/>
          <a:stretch>
            <a:fillRect/>
          </a:stretch>
        </p:blipFill>
        <p:spPr>
          <a:xfrm>
            <a:off x="7772400" y="18288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828800" y="434733"/>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A Simple Link Can Create a Big Risk</a:t>
            </a:r>
            <a:endParaRPr lang="en-US" sz="2450" dirty="0"/>
          </a:p>
        </p:txBody>
      </p:sp>
      <p:sp>
        <p:nvSpPr>
          <p:cNvPr id="5" name="Shape 1"/>
          <p:cNvSpPr/>
          <p:nvPr/>
        </p:nvSpPr>
        <p:spPr>
          <a:xfrm>
            <a:off x="571500" y="1128713"/>
            <a:ext cx="4143375" cy="800100"/>
          </a:xfrm>
          <a:prstGeom prst="rect">
            <a:avLst/>
          </a:prstGeom>
          <a:solidFill>
            <a:srgbClr val="FFFFFF">
              <a:alpha val="3000"/>
            </a:srgbClr>
          </a:solidFill>
          <a:ln w="9144">
            <a:solidFill>
              <a:srgbClr val="F59E0B">
                <a:alpha val="20000"/>
              </a:srgbClr>
            </a:solidFill>
            <a:prstDash val="solid"/>
          </a:ln>
        </p:spPr>
        <p:txBody>
          <a:bodyPr/>
          <a:lstStyle/>
          <a:p>
            <a:endParaRPr lang="en-US"/>
          </a:p>
        </p:txBody>
      </p:sp>
      <p:sp>
        <p:nvSpPr>
          <p:cNvPr id="6" name="Shape 2"/>
          <p:cNvSpPr/>
          <p:nvPr/>
        </p:nvSpPr>
        <p:spPr>
          <a:xfrm>
            <a:off x="750094" y="1307306"/>
            <a:ext cx="428625" cy="428625"/>
          </a:xfrm>
          <a:prstGeom prst="rect">
            <a:avLst/>
          </a:prstGeom>
          <a:solidFill>
            <a:srgbClr val="F59E0B">
              <a:alpha val="10000"/>
            </a:srgbClr>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839391" y="1421606"/>
            <a:ext cx="250031" cy="200025"/>
          </a:xfrm>
          <a:prstGeom prst="rect">
            <a:avLst/>
          </a:prstGeom>
        </p:spPr>
      </p:pic>
      <p:sp>
        <p:nvSpPr>
          <p:cNvPr id="8" name="Text 3"/>
          <p:cNvSpPr/>
          <p:nvPr/>
        </p:nvSpPr>
        <p:spPr>
          <a:xfrm>
            <a:off x="1321594" y="1322487"/>
            <a:ext cx="2623542" cy="207169"/>
          </a:xfrm>
          <a:prstGeom prst="rect">
            <a:avLst/>
          </a:prstGeom>
          <a:noFill/>
          <a:ln/>
        </p:spPr>
        <p:txBody>
          <a:bodyPr wrap="square" lIns="0" tIns="0" rIns="0" bIns="0" rtlCol="0" anchor="t">
            <a:spAutoFit/>
          </a:bodyPr>
          <a:lstStyle/>
          <a:p>
            <a:pPr marL="0" indent="0" algn="l">
              <a:buNone/>
            </a:pPr>
            <a:r>
              <a:rPr lang="en-US" sz="1200" b="1" dirty="0">
                <a:solidFill>
                  <a:srgbClr val="F59E0B"/>
                </a:solidFill>
                <a:latin typeface="Inter ExtraBold" pitchFamily="34" charset="0"/>
                <a:ea typeface="Inter ExtraBold" pitchFamily="34" charset="-122"/>
                <a:cs typeface="Inter ExtraBold" pitchFamily="34" charset="-120"/>
              </a:rPr>
              <a:t>User Risk</a:t>
            </a:r>
            <a:endParaRPr lang="en-US" sz="1200" dirty="0"/>
          </a:p>
        </p:txBody>
      </p:sp>
      <p:sp>
        <p:nvSpPr>
          <p:cNvPr id="9" name="Text 4"/>
          <p:cNvSpPr/>
          <p:nvPr/>
        </p:nvSpPr>
        <p:spPr>
          <a:xfrm>
            <a:off x="1321594" y="1565374"/>
            <a:ext cx="2623542" cy="146194"/>
          </a:xfrm>
          <a:prstGeom prst="rect">
            <a:avLst/>
          </a:prstGeom>
          <a:noFill/>
          <a:ln/>
        </p:spPr>
        <p:txBody>
          <a:bodyPr wrap="square" lIns="0" tIns="0" rIns="0" bIns="0" rtlCol="0" anchor="t">
            <a:spAutoFit/>
          </a:bodyPr>
          <a:lstStyle/>
          <a:p>
            <a:pPr marL="0" indent="0" algn="l">
              <a:buNone/>
            </a:pPr>
            <a:r>
              <a:rPr lang="en-US" sz="950" dirty="0">
                <a:solidFill>
                  <a:schemeClr val="bg1"/>
                </a:solidFill>
                <a:latin typeface="Inter Light" pitchFamily="34" charset="0"/>
                <a:ea typeface="Inter Light" pitchFamily="34" charset="-122"/>
                <a:cs typeface="Inter Light" pitchFamily="34" charset="-120"/>
              </a:rPr>
              <a:t>Hard to know if a link is safe before clicking.</a:t>
            </a:r>
            <a:endParaRPr lang="en-US" sz="950" dirty="0">
              <a:solidFill>
                <a:schemeClr val="bg1"/>
              </a:solidFill>
            </a:endParaRPr>
          </a:p>
        </p:txBody>
      </p:sp>
      <p:sp>
        <p:nvSpPr>
          <p:cNvPr id="10" name="Shape 5"/>
          <p:cNvSpPr/>
          <p:nvPr/>
        </p:nvSpPr>
        <p:spPr>
          <a:xfrm>
            <a:off x="571500" y="2057400"/>
            <a:ext cx="4143375" cy="925116"/>
          </a:xfrm>
          <a:prstGeom prst="rect">
            <a:avLst/>
          </a:prstGeom>
          <a:solidFill>
            <a:srgbClr val="FFFFFF">
              <a:alpha val="3000"/>
            </a:srgbClr>
          </a:solidFill>
          <a:ln w="9144">
            <a:solidFill>
              <a:srgbClr val="F59E0B">
                <a:alpha val="20000"/>
              </a:srgbClr>
            </a:solidFill>
            <a:prstDash val="solid"/>
          </a:ln>
        </p:spPr>
        <p:txBody>
          <a:bodyPr/>
          <a:lstStyle/>
          <a:p>
            <a:endParaRPr lang="en-US"/>
          </a:p>
        </p:txBody>
      </p:sp>
      <p:sp>
        <p:nvSpPr>
          <p:cNvPr id="11" name="Shape 6"/>
          <p:cNvSpPr/>
          <p:nvPr/>
        </p:nvSpPr>
        <p:spPr>
          <a:xfrm>
            <a:off x="750094" y="2298502"/>
            <a:ext cx="422011" cy="428625"/>
          </a:xfrm>
          <a:prstGeom prst="rect">
            <a:avLst/>
          </a:prstGeom>
          <a:solidFill>
            <a:srgbClr val="F59E0B">
              <a:alpha val="10000"/>
            </a:srgbClr>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886076" y="2412802"/>
            <a:ext cx="150019" cy="200025"/>
          </a:xfrm>
          <a:prstGeom prst="rect">
            <a:avLst/>
          </a:prstGeom>
        </p:spPr>
      </p:pic>
      <p:sp>
        <p:nvSpPr>
          <p:cNvPr id="13" name="Text 7"/>
          <p:cNvSpPr/>
          <p:nvPr/>
        </p:nvSpPr>
        <p:spPr>
          <a:xfrm>
            <a:off x="1314980" y="2235994"/>
            <a:ext cx="3221301" cy="207169"/>
          </a:xfrm>
          <a:prstGeom prst="rect">
            <a:avLst/>
          </a:prstGeom>
          <a:noFill/>
          <a:ln/>
        </p:spPr>
        <p:txBody>
          <a:bodyPr wrap="square" lIns="0" tIns="0" rIns="0" bIns="0" rtlCol="0" anchor="t">
            <a:spAutoFit/>
          </a:bodyPr>
          <a:lstStyle/>
          <a:p>
            <a:pPr marL="0" indent="0" algn="l">
              <a:buNone/>
            </a:pPr>
            <a:r>
              <a:rPr lang="en-US" sz="1200" b="1" dirty="0">
                <a:solidFill>
                  <a:srgbClr val="F59E0B"/>
                </a:solidFill>
                <a:latin typeface="Inter ExtraBold" pitchFamily="34" charset="0"/>
                <a:ea typeface="Inter ExtraBold" pitchFamily="34" charset="-122"/>
                <a:cs typeface="Inter ExtraBold" pitchFamily="34" charset="-120"/>
              </a:rPr>
              <a:t>Business Risk</a:t>
            </a:r>
            <a:endParaRPr lang="en-US" sz="1200" dirty="0"/>
          </a:p>
        </p:txBody>
      </p:sp>
      <p:sp>
        <p:nvSpPr>
          <p:cNvPr id="14" name="Text 8"/>
          <p:cNvSpPr/>
          <p:nvPr/>
        </p:nvSpPr>
        <p:spPr>
          <a:xfrm>
            <a:off x="1314980" y="2478881"/>
            <a:ext cx="3221301" cy="146194"/>
          </a:xfrm>
          <a:prstGeom prst="rect">
            <a:avLst/>
          </a:prstGeom>
          <a:noFill/>
          <a:ln/>
        </p:spPr>
        <p:txBody>
          <a:bodyPr wrap="square" lIns="0" tIns="0" rIns="0" bIns="0" rtlCol="0" anchor="t">
            <a:spAutoFit/>
          </a:bodyPr>
          <a:lstStyle/>
          <a:p>
            <a:pPr marL="0" indent="0" algn="l">
              <a:buNone/>
            </a:pPr>
            <a:r>
              <a:rPr lang="en-US" sz="950" dirty="0">
                <a:solidFill>
                  <a:schemeClr val="bg1"/>
                </a:solidFill>
                <a:latin typeface="Inter Light" pitchFamily="34" charset="0"/>
                <a:ea typeface="Inter Light" pitchFamily="34" charset="-122"/>
                <a:cs typeface="Inter Light" pitchFamily="34" charset="-120"/>
              </a:rPr>
              <a:t>Phishing can damage trust and cause critical incidents.</a:t>
            </a:r>
            <a:endParaRPr lang="en-US" sz="950" dirty="0">
              <a:solidFill>
                <a:schemeClr val="bg1"/>
              </a:solidFill>
            </a:endParaRPr>
          </a:p>
        </p:txBody>
      </p:sp>
      <p:sp>
        <p:nvSpPr>
          <p:cNvPr id="15" name="Shape 9"/>
          <p:cNvSpPr/>
          <p:nvPr/>
        </p:nvSpPr>
        <p:spPr>
          <a:xfrm>
            <a:off x="571500" y="3111103"/>
            <a:ext cx="4143375" cy="925116"/>
          </a:xfrm>
          <a:prstGeom prst="rect">
            <a:avLst/>
          </a:prstGeom>
          <a:solidFill>
            <a:srgbClr val="FFFFFF">
              <a:alpha val="3000"/>
            </a:srgbClr>
          </a:solidFill>
          <a:ln w="9144">
            <a:solidFill>
              <a:srgbClr val="F59E0B">
                <a:alpha val="20000"/>
              </a:srgbClr>
            </a:solidFill>
            <a:prstDash val="solid"/>
          </a:ln>
        </p:spPr>
        <p:txBody>
          <a:bodyPr/>
          <a:lstStyle/>
          <a:p>
            <a:endParaRPr lang="en-US"/>
          </a:p>
        </p:txBody>
      </p:sp>
      <p:sp>
        <p:nvSpPr>
          <p:cNvPr id="16" name="Shape 10"/>
          <p:cNvSpPr/>
          <p:nvPr/>
        </p:nvSpPr>
        <p:spPr>
          <a:xfrm>
            <a:off x="750094" y="3352205"/>
            <a:ext cx="421593" cy="428625"/>
          </a:xfrm>
          <a:prstGeom prst="rect">
            <a:avLst/>
          </a:prstGeom>
          <a:solidFill>
            <a:srgbClr val="F59E0B">
              <a:alpha val="10000"/>
            </a:srgbClr>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860878" y="3466505"/>
            <a:ext cx="200025" cy="200025"/>
          </a:xfrm>
          <a:prstGeom prst="rect">
            <a:avLst/>
          </a:prstGeom>
        </p:spPr>
      </p:pic>
      <p:sp>
        <p:nvSpPr>
          <p:cNvPr id="18" name="Text 11"/>
          <p:cNvSpPr/>
          <p:nvPr/>
        </p:nvSpPr>
        <p:spPr>
          <a:xfrm>
            <a:off x="1314562" y="3289697"/>
            <a:ext cx="3221720" cy="207169"/>
          </a:xfrm>
          <a:prstGeom prst="rect">
            <a:avLst/>
          </a:prstGeom>
          <a:noFill/>
          <a:ln/>
        </p:spPr>
        <p:txBody>
          <a:bodyPr wrap="square" lIns="0" tIns="0" rIns="0" bIns="0" rtlCol="0" anchor="t">
            <a:spAutoFit/>
          </a:bodyPr>
          <a:lstStyle/>
          <a:p>
            <a:pPr marL="0" indent="0" algn="l">
              <a:buNone/>
            </a:pPr>
            <a:r>
              <a:rPr lang="en-US" sz="1200" b="1" dirty="0">
                <a:solidFill>
                  <a:srgbClr val="F59E0B"/>
                </a:solidFill>
                <a:latin typeface="Inter ExtraBold" pitchFamily="34" charset="0"/>
                <a:ea typeface="Inter ExtraBold" pitchFamily="34" charset="-122"/>
                <a:cs typeface="Inter ExtraBold" pitchFamily="34" charset="-120"/>
              </a:rPr>
              <a:t>Engineering Risk</a:t>
            </a:r>
            <a:endParaRPr lang="en-US" sz="1200" dirty="0"/>
          </a:p>
        </p:txBody>
      </p:sp>
      <p:sp>
        <p:nvSpPr>
          <p:cNvPr id="19" name="Text 12"/>
          <p:cNvSpPr/>
          <p:nvPr/>
        </p:nvSpPr>
        <p:spPr>
          <a:xfrm>
            <a:off x="1314562" y="3532584"/>
            <a:ext cx="3221720" cy="146194"/>
          </a:xfrm>
          <a:prstGeom prst="rect">
            <a:avLst/>
          </a:prstGeom>
          <a:noFill/>
          <a:ln/>
        </p:spPr>
        <p:txBody>
          <a:bodyPr wrap="square" lIns="0" tIns="0" rIns="0" bIns="0" rtlCol="0" anchor="t">
            <a:spAutoFit/>
          </a:bodyPr>
          <a:lstStyle/>
          <a:p>
            <a:pPr marL="0" indent="0" algn="l">
              <a:buNone/>
            </a:pPr>
            <a:r>
              <a:rPr lang="en-US" sz="950" dirty="0">
                <a:solidFill>
                  <a:schemeClr val="bg1"/>
                </a:solidFill>
                <a:latin typeface="Inter Light" pitchFamily="34" charset="0"/>
                <a:ea typeface="Inter Light" pitchFamily="34" charset="-122"/>
                <a:cs typeface="Inter Light" pitchFamily="34" charset="-120"/>
              </a:rPr>
              <a:t>A working app is not enough if deployment is insecure.</a:t>
            </a:r>
            <a:endParaRPr lang="en-US" sz="950" dirty="0">
              <a:solidFill>
                <a:schemeClr val="bg1"/>
              </a:solidFill>
            </a:endParaRPr>
          </a:p>
        </p:txBody>
      </p:sp>
      <p:pic>
        <p:nvPicPr>
          <p:cNvPr id="20" name="Image 4" descr="preencoded.png"/>
          <p:cNvPicPr>
            <a:picLocks noChangeAspect="1"/>
          </p:cNvPicPr>
          <p:nvPr/>
        </p:nvPicPr>
        <p:blipFill>
          <a:blip r:embed="rId7"/>
          <a:stretch>
            <a:fillRect/>
          </a:stretch>
        </p:blipFill>
        <p:spPr>
          <a:xfrm>
            <a:off x="5007769" y="1135856"/>
            <a:ext cx="3571875" cy="2857500"/>
          </a:xfrm>
          <a:prstGeom prst="rect">
            <a:avLst/>
          </a:prstGeom>
        </p:spPr>
      </p:pic>
      <p:sp>
        <p:nvSpPr>
          <p:cNvPr id="21" name="Shape 13"/>
          <p:cNvSpPr/>
          <p:nvPr/>
        </p:nvSpPr>
        <p:spPr>
          <a:xfrm>
            <a:off x="571500" y="4450556"/>
            <a:ext cx="8572500" cy="378619"/>
          </a:xfrm>
          <a:prstGeom prst="rect">
            <a:avLst/>
          </a:prstGeom>
          <a:solidFill>
            <a:srgbClr val="000000">
              <a:alpha val="0"/>
            </a:srgbClr>
          </a:solidFill>
          <a:ln/>
        </p:spPr>
        <p:txBody>
          <a:bodyPr/>
          <a:lstStyle/>
          <a:p>
            <a:endParaRPr lang="en-US"/>
          </a:p>
        </p:txBody>
      </p:sp>
      <p:sp>
        <p:nvSpPr>
          <p:cNvPr id="22" name="Shape 14"/>
          <p:cNvSpPr/>
          <p:nvPr/>
        </p:nvSpPr>
        <p:spPr>
          <a:xfrm>
            <a:off x="571500" y="4450556"/>
            <a:ext cx="28575" cy="378619"/>
          </a:xfrm>
          <a:prstGeom prst="rect">
            <a:avLst/>
          </a:prstGeom>
          <a:solidFill>
            <a:srgbClr val="F59E0B"/>
          </a:solidFill>
          <a:ln/>
        </p:spPr>
        <p:txBody>
          <a:bodyPr/>
          <a:lstStyle/>
          <a:p>
            <a:endParaRPr lang="en-US"/>
          </a:p>
        </p:txBody>
      </p:sp>
      <p:sp>
        <p:nvSpPr>
          <p:cNvPr id="23" name="Text 15"/>
          <p:cNvSpPr/>
          <p:nvPr/>
        </p:nvSpPr>
        <p:spPr>
          <a:xfrm>
            <a:off x="571500" y="4450556"/>
            <a:ext cx="8572500" cy="353943"/>
          </a:xfrm>
          <a:prstGeom prst="rect">
            <a:avLst/>
          </a:prstGeom>
          <a:noFill/>
          <a:ln/>
        </p:spPr>
        <p:txBody>
          <a:bodyPr wrap="square" lIns="170053" tIns="0" rIns="0" bIns="0" rtlCol="0" anchor="t">
            <a:spAutoFit/>
          </a:bodyPr>
          <a:lstStyle/>
          <a:p>
            <a:pPr marL="0" indent="0" algn="l">
              <a:buNone/>
            </a:pPr>
            <a:r>
              <a:rPr lang="en-US" sz="1150" dirty="0">
                <a:solidFill>
                  <a:schemeClr val="bg1"/>
                </a:solidFill>
                <a:latin typeface="Inter Light" pitchFamily="34" charset="0"/>
                <a:ea typeface="Inter Light" pitchFamily="34" charset="-122"/>
                <a:cs typeface="Inter Light" pitchFamily="34" charset="-120"/>
              </a:rPr>
              <a:t>The problem is not only unsafe links. 
It lies under </a:t>
            </a:r>
            <a:r>
              <a:rPr lang="en-US" sz="1100" b="1" dirty="0">
                <a:solidFill>
                  <a:schemeClr val="bg1"/>
                </a:solidFill>
                <a:latin typeface="Inter ExtraBold" pitchFamily="34" charset="0"/>
                <a:ea typeface="Inter ExtraBold" pitchFamily="34" charset="-122"/>
                <a:cs typeface="Inter ExtraBold" pitchFamily="34" charset="-120"/>
              </a:rPr>
              <a:t>unreliable software delivery</a:t>
            </a:r>
            <a:r>
              <a:rPr lang="en-US" sz="1150" dirty="0">
                <a:solidFill>
                  <a:schemeClr val="bg1"/>
                </a:solidFill>
                <a:latin typeface="Inter Light" pitchFamily="34" charset="0"/>
                <a:ea typeface="Inter Light" pitchFamily="34" charset="-122"/>
                <a:cs typeface="Inter Light" pitchFamily="34" charset="-120"/>
              </a:rPr>
              <a:t>.</a:t>
            </a:r>
            <a:endParaRPr lang="en-US" sz="1150" dirty="0">
              <a:solidFill>
                <a:schemeClr val="bg1"/>
              </a:solidFill>
            </a:endParaRPr>
          </a:p>
        </p:txBody>
      </p:sp>
      <p:pic>
        <p:nvPicPr>
          <p:cNvPr id="24" name="Picture 23" descr="idda_en_clean2.png"/>
          <p:cNvPicPr>
            <a:picLocks noChangeAspect="1"/>
          </p:cNvPicPr>
          <p:nvPr/>
        </p:nvPicPr>
        <p:blipFill>
          <a:blip r:embed="rId8"/>
          <a:stretch>
            <a:fillRect/>
          </a:stretch>
        </p:blipFill>
        <p:spPr>
          <a:xfrm>
            <a:off x="274320" y="182880"/>
            <a:ext cx="1280160" cy="843999"/>
          </a:xfrm>
          <a:prstGeom prst="rect">
            <a:avLst/>
          </a:prstGeom>
        </p:spPr>
      </p:pic>
      <p:pic>
        <p:nvPicPr>
          <p:cNvPr id="25" name="Picture 24" descr="ironhack.png"/>
          <p:cNvPicPr>
            <a:picLocks noChangeAspect="1"/>
          </p:cNvPicPr>
          <p:nvPr/>
        </p:nvPicPr>
        <p:blipFill>
          <a:blip r:embed="rId9"/>
          <a:stretch>
            <a:fillRect/>
          </a:stretch>
        </p:blipFill>
        <p:spPr>
          <a:xfrm>
            <a:off x="7772400" y="182880"/>
            <a:ext cx="9144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711726" y="420588"/>
            <a:ext cx="4255456" cy="377026"/>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Why DevOps Matters</a:t>
            </a:r>
            <a:endParaRPr lang="en-US" sz="2450" dirty="0"/>
          </a:p>
        </p:txBody>
      </p:sp>
      <p:sp>
        <p:nvSpPr>
          <p:cNvPr id="5" name="Shape 1"/>
          <p:cNvSpPr/>
          <p:nvPr/>
        </p:nvSpPr>
        <p:spPr>
          <a:xfrm>
            <a:off x="571500" y="1128713"/>
            <a:ext cx="2321719" cy="2714625"/>
          </a:xfrm>
          <a:prstGeom prst="rect">
            <a:avLst/>
          </a:prstGeom>
          <a:solidFill>
            <a:srgbClr val="FFFFFF">
              <a:alpha val="3000"/>
            </a:srgbClr>
          </a:solidFill>
          <a:ln w="9144">
            <a:solidFill>
              <a:srgbClr val="FF5C5C">
                <a:alpha val="20000"/>
              </a:srgbClr>
            </a:solidFill>
            <a:prstDash val="solid"/>
          </a:ln>
        </p:spPr>
        <p:txBody>
          <a:bodyPr/>
          <a:lstStyle/>
          <a:p>
            <a:endParaRPr lang="en-US"/>
          </a:p>
        </p:txBody>
      </p:sp>
      <p:sp>
        <p:nvSpPr>
          <p:cNvPr id="6" name="Text 2"/>
          <p:cNvSpPr/>
          <p:nvPr/>
        </p:nvSpPr>
        <p:spPr>
          <a:xfrm>
            <a:off x="857250" y="1414463"/>
            <a:ext cx="1750219" cy="310753"/>
          </a:xfrm>
          <a:prstGeom prst="rect">
            <a:avLst/>
          </a:prstGeom>
          <a:noFill/>
          <a:ln/>
        </p:spPr>
        <p:txBody>
          <a:bodyPr wrap="square" lIns="0" tIns="0" rIns="0" bIns="0" rtlCol="0" anchor="t">
            <a:spAutoFit/>
          </a:bodyPr>
          <a:lstStyle/>
          <a:p>
            <a:pPr marL="0" indent="0" algn="l">
              <a:buNone/>
            </a:pPr>
            <a:r>
              <a:rPr lang="en-US" sz="900" b="1" kern="0" spc="2" dirty="0">
                <a:solidFill>
                  <a:srgbClr val="FF5C5C"/>
                </a:solidFill>
                <a:latin typeface="Inter ExtraBold" pitchFamily="34" charset="0"/>
                <a:ea typeface="Inter ExtraBold" pitchFamily="34" charset="-122"/>
                <a:cs typeface="Inter ExtraBold" pitchFamily="34" charset="-120"/>
              </a:rPr>
              <a:t>TRADITIONAL APPROACH</a:t>
            </a:r>
            <a:endParaRPr lang="en-US" sz="900" dirty="0"/>
          </a:p>
        </p:txBody>
      </p:sp>
      <p:pic>
        <p:nvPicPr>
          <p:cNvPr id="7" name="Image 1" descr="preencoded.png"/>
          <p:cNvPicPr>
            <a:picLocks noChangeAspect="1"/>
          </p:cNvPicPr>
          <p:nvPr/>
        </p:nvPicPr>
        <p:blipFill>
          <a:blip r:embed="rId4"/>
          <a:stretch>
            <a:fillRect/>
          </a:stretch>
        </p:blipFill>
        <p:spPr>
          <a:xfrm>
            <a:off x="857250" y="1883271"/>
            <a:ext cx="171450" cy="142875"/>
          </a:xfrm>
          <a:prstGeom prst="rect">
            <a:avLst/>
          </a:prstGeom>
        </p:spPr>
      </p:pic>
      <p:sp>
        <p:nvSpPr>
          <p:cNvPr id="8" name="Text 3"/>
          <p:cNvSpPr/>
          <p:nvPr/>
        </p:nvSpPr>
        <p:spPr>
          <a:xfrm>
            <a:off x="1135856" y="1868091"/>
            <a:ext cx="1310878"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Manual deployment</a:t>
            </a:r>
            <a:endParaRPr lang="en-US" sz="1050" dirty="0">
              <a:solidFill>
                <a:schemeClr val="bg1"/>
              </a:solidFill>
            </a:endParaRPr>
          </a:p>
        </p:txBody>
      </p:sp>
      <p:pic>
        <p:nvPicPr>
          <p:cNvPr id="9" name="Image 2" descr="preencoded.png"/>
          <p:cNvPicPr>
            <a:picLocks noChangeAspect="1"/>
          </p:cNvPicPr>
          <p:nvPr/>
        </p:nvPicPr>
        <p:blipFill>
          <a:blip r:embed="rId5"/>
          <a:stretch>
            <a:fillRect/>
          </a:stretch>
        </p:blipFill>
        <p:spPr>
          <a:xfrm>
            <a:off x="857250" y="2199382"/>
            <a:ext cx="171450" cy="142875"/>
          </a:xfrm>
          <a:prstGeom prst="rect">
            <a:avLst/>
          </a:prstGeom>
        </p:spPr>
      </p:pic>
      <p:sp>
        <p:nvSpPr>
          <p:cNvPr id="10" name="Text 4"/>
          <p:cNvSpPr/>
          <p:nvPr/>
        </p:nvSpPr>
        <p:spPr>
          <a:xfrm>
            <a:off x="1135856" y="2184202"/>
            <a:ext cx="862416"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Public exposure</a:t>
            </a:r>
            <a:endParaRPr lang="en-US" sz="1050" dirty="0">
              <a:solidFill>
                <a:schemeClr val="bg1"/>
              </a:solidFill>
            </a:endParaRPr>
          </a:p>
        </p:txBody>
      </p:sp>
      <p:pic>
        <p:nvPicPr>
          <p:cNvPr id="11" name="Image 3" descr="preencoded.png"/>
          <p:cNvPicPr>
            <a:picLocks noChangeAspect="1"/>
          </p:cNvPicPr>
          <p:nvPr/>
        </p:nvPicPr>
        <p:blipFill>
          <a:blip r:embed="rId6"/>
          <a:stretch>
            <a:fillRect/>
          </a:stretch>
        </p:blipFill>
        <p:spPr>
          <a:xfrm>
            <a:off x="857250" y="2515493"/>
            <a:ext cx="171450" cy="142875"/>
          </a:xfrm>
          <a:prstGeom prst="rect">
            <a:avLst/>
          </a:prstGeom>
        </p:spPr>
      </p:pic>
      <p:sp>
        <p:nvSpPr>
          <p:cNvPr id="12" name="Text 5"/>
          <p:cNvSpPr/>
          <p:nvPr/>
        </p:nvSpPr>
        <p:spPr>
          <a:xfrm>
            <a:off x="1135856" y="2500313"/>
            <a:ext cx="793487"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No monitoring</a:t>
            </a:r>
            <a:endParaRPr lang="en-US" sz="1050" dirty="0">
              <a:solidFill>
                <a:schemeClr val="bg1"/>
              </a:solidFill>
            </a:endParaRPr>
          </a:p>
        </p:txBody>
      </p:sp>
      <p:pic>
        <p:nvPicPr>
          <p:cNvPr id="13" name="Image 4" descr="preencoded.png"/>
          <p:cNvPicPr>
            <a:picLocks noChangeAspect="1"/>
          </p:cNvPicPr>
          <p:nvPr/>
        </p:nvPicPr>
        <p:blipFill>
          <a:blip r:embed="rId7"/>
          <a:stretch>
            <a:fillRect/>
          </a:stretch>
        </p:blipFill>
        <p:spPr>
          <a:xfrm>
            <a:off x="857250" y="2831604"/>
            <a:ext cx="171450" cy="142875"/>
          </a:xfrm>
          <a:prstGeom prst="rect">
            <a:avLst/>
          </a:prstGeom>
        </p:spPr>
      </p:pic>
      <p:sp>
        <p:nvSpPr>
          <p:cNvPr id="14" name="Text 6"/>
          <p:cNvSpPr/>
          <p:nvPr/>
        </p:nvSpPr>
        <p:spPr>
          <a:xfrm>
            <a:off x="1135856" y="2816423"/>
            <a:ext cx="801501"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Hard to repeat</a:t>
            </a:r>
            <a:endParaRPr lang="en-US" sz="1050" dirty="0">
              <a:solidFill>
                <a:schemeClr val="bg1"/>
              </a:solidFill>
            </a:endParaRPr>
          </a:p>
        </p:txBody>
      </p:sp>
      <p:sp>
        <p:nvSpPr>
          <p:cNvPr id="15" name="Shape 7"/>
          <p:cNvSpPr/>
          <p:nvPr/>
        </p:nvSpPr>
        <p:spPr>
          <a:xfrm>
            <a:off x="3107531" y="1128713"/>
            <a:ext cx="2321719" cy="2714625"/>
          </a:xfrm>
          <a:prstGeom prst="rect">
            <a:avLst/>
          </a:prstGeom>
          <a:solidFill>
            <a:srgbClr val="FFFFFF">
              <a:alpha val="3000"/>
            </a:srgbClr>
          </a:solidFill>
          <a:ln w="9144">
            <a:solidFill>
              <a:srgbClr val="00C7BE">
                <a:alpha val="20000"/>
              </a:srgbClr>
            </a:solidFill>
            <a:prstDash val="solid"/>
          </a:ln>
        </p:spPr>
        <p:txBody>
          <a:bodyPr/>
          <a:lstStyle/>
          <a:p>
            <a:endParaRPr lang="en-US" dirty="0"/>
          </a:p>
        </p:txBody>
      </p:sp>
      <p:sp>
        <p:nvSpPr>
          <p:cNvPr id="16" name="Text 8"/>
          <p:cNvSpPr/>
          <p:nvPr/>
        </p:nvSpPr>
        <p:spPr>
          <a:xfrm>
            <a:off x="3393281" y="1414463"/>
            <a:ext cx="1750219" cy="155377"/>
          </a:xfrm>
          <a:prstGeom prst="rect">
            <a:avLst/>
          </a:prstGeom>
          <a:noFill/>
          <a:ln/>
        </p:spPr>
        <p:txBody>
          <a:bodyPr wrap="square" lIns="0" tIns="0" rIns="0" bIns="0" rtlCol="0" anchor="t">
            <a:spAutoFit/>
          </a:bodyPr>
          <a:lstStyle/>
          <a:p>
            <a:pPr marL="0" indent="0" algn="l">
              <a:buNone/>
            </a:pPr>
            <a:r>
              <a:rPr lang="en-US" sz="900" b="1" kern="0" spc="2" dirty="0">
                <a:solidFill>
                  <a:srgbClr val="00C7BE"/>
                </a:solidFill>
                <a:latin typeface="Inter ExtraBold" pitchFamily="34" charset="0"/>
                <a:ea typeface="Inter ExtraBold" pitchFamily="34" charset="-122"/>
                <a:cs typeface="Inter ExtraBold" pitchFamily="34" charset="-120"/>
              </a:rPr>
              <a:t>DEVOPS APPROACH</a:t>
            </a:r>
            <a:endParaRPr lang="en-US" sz="900" dirty="0"/>
          </a:p>
        </p:txBody>
      </p:sp>
      <p:pic>
        <p:nvPicPr>
          <p:cNvPr id="17" name="Image 5" descr="preencoded.png"/>
          <p:cNvPicPr>
            <a:picLocks noChangeAspect="1"/>
          </p:cNvPicPr>
          <p:nvPr/>
        </p:nvPicPr>
        <p:blipFill>
          <a:blip r:embed="rId8"/>
          <a:stretch>
            <a:fillRect/>
          </a:stretch>
        </p:blipFill>
        <p:spPr>
          <a:xfrm>
            <a:off x="3393281" y="1727895"/>
            <a:ext cx="171450" cy="142875"/>
          </a:xfrm>
          <a:prstGeom prst="rect">
            <a:avLst/>
          </a:prstGeom>
        </p:spPr>
      </p:pic>
      <p:sp>
        <p:nvSpPr>
          <p:cNvPr id="18" name="Text 9"/>
          <p:cNvSpPr/>
          <p:nvPr/>
        </p:nvSpPr>
        <p:spPr>
          <a:xfrm>
            <a:off x="3671888" y="1712714"/>
            <a:ext cx="1287661"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Automated delivery</a:t>
            </a:r>
            <a:endParaRPr lang="en-US" sz="1050" dirty="0">
              <a:solidFill>
                <a:schemeClr val="bg1"/>
              </a:solidFill>
            </a:endParaRPr>
          </a:p>
        </p:txBody>
      </p:sp>
      <p:pic>
        <p:nvPicPr>
          <p:cNvPr id="19" name="Image 6" descr="preencoded.png"/>
          <p:cNvPicPr>
            <a:picLocks noChangeAspect="1"/>
          </p:cNvPicPr>
          <p:nvPr/>
        </p:nvPicPr>
        <p:blipFill>
          <a:blip r:embed="rId9"/>
          <a:stretch>
            <a:fillRect/>
          </a:stretch>
        </p:blipFill>
        <p:spPr>
          <a:xfrm>
            <a:off x="3393281" y="2044005"/>
            <a:ext cx="171450" cy="142875"/>
          </a:xfrm>
          <a:prstGeom prst="rect">
            <a:avLst/>
          </a:prstGeom>
        </p:spPr>
      </p:pic>
      <p:sp>
        <p:nvSpPr>
          <p:cNvPr id="20" name="Text 10"/>
          <p:cNvSpPr/>
          <p:nvPr/>
        </p:nvSpPr>
        <p:spPr>
          <a:xfrm>
            <a:off x="3671888" y="2028825"/>
            <a:ext cx="1387673"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Private infrastructure</a:t>
            </a:r>
            <a:endParaRPr lang="en-US" sz="1050" dirty="0">
              <a:solidFill>
                <a:schemeClr val="bg1"/>
              </a:solidFill>
            </a:endParaRPr>
          </a:p>
        </p:txBody>
      </p:sp>
      <p:pic>
        <p:nvPicPr>
          <p:cNvPr id="21" name="Image 7" descr="preencoded.png"/>
          <p:cNvPicPr>
            <a:picLocks noChangeAspect="1"/>
          </p:cNvPicPr>
          <p:nvPr/>
        </p:nvPicPr>
        <p:blipFill>
          <a:blip r:embed="rId10"/>
          <a:stretch>
            <a:fillRect/>
          </a:stretch>
        </p:blipFill>
        <p:spPr>
          <a:xfrm>
            <a:off x="3393281" y="2360116"/>
            <a:ext cx="171450" cy="142875"/>
          </a:xfrm>
          <a:prstGeom prst="rect">
            <a:avLst/>
          </a:prstGeom>
        </p:spPr>
      </p:pic>
      <p:sp>
        <p:nvSpPr>
          <p:cNvPr id="22" name="Text 11"/>
          <p:cNvSpPr/>
          <p:nvPr/>
        </p:nvSpPr>
        <p:spPr>
          <a:xfrm>
            <a:off x="3671888" y="2344936"/>
            <a:ext cx="1405533"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Monitoring and alerts</a:t>
            </a:r>
            <a:endParaRPr lang="en-US" sz="1050" dirty="0">
              <a:solidFill>
                <a:schemeClr val="bg1"/>
              </a:solidFill>
            </a:endParaRPr>
          </a:p>
        </p:txBody>
      </p:sp>
      <p:pic>
        <p:nvPicPr>
          <p:cNvPr id="23" name="Image 8" descr="preencoded.png"/>
          <p:cNvPicPr>
            <a:picLocks noChangeAspect="1"/>
          </p:cNvPicPr>
          <p:nvPr/>
        </p:nvPicPr>
        <p:blipFill>
          <a:blip r:embed="rId11"/>
          <a:stretch>
            <a:fillRect/>
          </a:stretch>
        </p:blipFill>
        <p:spPr>
          <a:xfrm>
            <a:off x="3397567" y="2691407"/>
            <a:ext cx="161934" cy="142875"/>
          </a:xfrm>
          <a:prstGeom prst="rect">
            <a:avLst/>
          </a:prstGeom>
        </p:spPr>
      </p:pic>
      <p:sp>
        <p:nvSpPr>
          <p:cNvPr id="24" name="Text 12"/>
          <p:cNvSpPr/>
          <p:nvPr/>
        </p:nvSpPr>
        <p:spPr>
          <a:xfrm>
            <a:off x="3662372" y="2661047"/>
            <a:ext cx="1481128"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Repeatable deployment</a:t>
            </a:r>
            <a:endParaRPr lang="en-US" sz="1050" dirty="0">
              <a:solidFill>
                <a:schemeClr val="bg1"/>
              </a:solidFill>
            </a:endParaRPr>
          </a:p>
        </p:txBody>
      </p:sp>
      <p:pic>
        <p:nvPicPr>
          <p:cNvPr id="25" name="Image 9" descr="preencoded.png"/>
          <p:cNvPicPr>
            <a:picLocks noChangeAspect="1"/>
          </p:cNvPicPr>
          <p:nvPr/>
        </p:nvPicPr>
        <p:blipFill>
          <a:blip r:embed="rId12"/>
          <a:stretch>
            <a:fillRect/>
          </a:stretch>
        </p:blipFill>
        <p:spPr>
          <a:xfrm>
            <a:off x="5715000" y="1128713"/>
            <a:ext cx="2857500" cy="2714625"/>
          </a:xfrm>
          <a:prstGeom prst="rect">
            <a:avLst/>
          </a:prstGeom>
        </p:spPr>
      </p:pic>
      <p:sp>
        <p:nvSpPr>
          <p:cNvPr id="26" name="Text 13"/>
          <p:cNvSpPr/>
          <p:nvPr/>
        </p:nvSpPr>
        <p:spPr>
          <a:xfrm>
            <a:off x="0" y="4129088"/>
            <a:ext cx="9144000" cy="207169"/>
          </a:xfrm>
          <a:prstGeom prst="rect">
            <a:avLst/>
          </a:prstGeom>
          <a:noFill/>
          <a:ln/>
        </p:spPr>
        <p:txBody>
          <a:bodyPr wrap="square" lIns="680339" tIns="0" rIns="0" bIns="0" rtlCol="0" anchor="t">
            <a:spAutoFit/>
          </a:bodyPr>
          <a:lstStyle/>
          <a:p>
            <a:pPr marL="0" indent="0" algn="l">
              <a:buNone/>
            </a:pPr>
            <a:r>
              <a:rPr lang="en-US" sz="1250" dirty="0">
                <a:solidFill>
                  <a:srgbClr val="FFFFFF"/>
                </a:solidFill>
                <a:latin typeface="Inter Light" pitchFamily="34" charset="0"/>
                <a:ea typeface="Inter Light" pitchFamily="34" charset="-122"/>
                <a:cs typeface="Inter Light" pitchFamily="34" charset="-120"/>
              </a:rPr>
              <a:t>From "it works on my machine" to </a:t>
            </a:r>
            <a:r>
              <a:rPr lang="en-US" sz="1200" b="1" dirty="0">
                <a:solidFill>
                  <a:srgbClr val="00C7BE"/>
                </a:solidFill>
                <a:latin typeface="Inter ExtraBold" pitchFamily="34" charset="0"/>
                <a:ea typeface="Inter ExtraBold" pitchFamily="34" charset="-122"/>
                <a:cs typeface="Inter ExtraBold" pitchFamily="34" charset="-120"/>
              </a:rPr>
              <a:t>"it works reliably for real users."</a:t>
            </a:r>
            <a:endParaRPr lang="en-US" sz="1250" dirty="0"/>
          </a:p>
        </p:txBody>
      </p:sp>
      <p:pic>
        <p:nvPicPr>
          <p:cNvPr id="27" name="Picture 26" descr="idda_en_clean2.png"/>
          <p:cNvPicPr>
            <a:picLocks noChangeAspect="1"/>
          </p:cNvPicPr>
          <p:nvPr/>
        </p:nvPicPr>
        <p:blipFill>
          <a:blip r:embed="rId13"/>
          <a:stretch>
            <a:fillRect/>
          </a:stretch>
        </p:blipFill>
        <p:spPr>
          <a:xfrm>
            <a:off x="274320" y="182880"/>
            <a:ext cx="1280160" cy="843999"/>
          </a:xfrm>
          <a:prstGeom prst="rect">
            <a:avLst/>
          </a:prstGeom>
        </p:spPr>
      </p:pic>
      <p:pic>
        <p:nvPicPr>
          <p:cNvPr id="28" name="Picture 27" descr="ironhack.png"/>
          <p:cNvPicPr>
            <a:picLocks noChangeAspect="1"/>
          </p:cNvPicPr>
          <p:nvPr/>
        </p:nvPicPr>
        <p:blipFill>
          <a:blip r:embed="rId14"/>
          <a:stretch>
            <a:fillRect/>
          </a:stretch>
        </p:blipFill>
        <p:spPr>
          <a:xfrm>
            <a:off x="7772400" y="182880"/>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448396" y="440234"/>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Simple Experience, Serious Engineering</a:t>
            </a:r>
            <a:endParaRPr lang="en-US" sz="2450" dirty="0"/>
          </a:p>
        </p:txBody>
      </p:sp>
      <p:sp>
        <p:nvSpPr>
          <p:cNvPr id="5" name="Text 1"/>
          <p:cNvSpPr/>
          <p:nvPr/>
        </p:nvSpPr>
        <p:spPr>
          <a:xfrm>
            <a:off x="571500" y="1271588"/>
            <a:ext cx="3714750" cy="207169"/>
          </a:xfrm>
          <a:prstGeom prst="rect">
            <a:avLst/>
          </a:prstGeom>
          <a:noFill/>
          <a:ln/>
        </p:spPr>
        <p:txBody>
          <a:bodyPr wrap="square" lIns="0" tIns="0" rIns="0" bIns="0" rtlCol="0" anchor="t">
            <a:spAutoFit/>
          </a:bodyPr>
          <a:lstStyle/>
          <a:p>
            <a:pPr marL="0" indent="0" algn="l">
              <a:buNone/>
            </a:pPr>
            <a:r>
              <a:rPr lang="en-US" sz="1200" b="1" kern="0" spc="2" dirty="0">
                <a:solidFill>
                  <a:srgbClr val="A1A1A6"/>
                </a:solidFill>
                <a:latin typeface="Inter ExtraBold" pitchFamily="34" charset="0"/>
                <a:ea typeface="Inter ExtraBold" pitchFamily="34" charset="-122"/>
                <a:cs typeface="Inter ExtraBold" pitchFamily="34" charset="-120"/>
              </a:rPr>
              <a:t>USER FLOW</a:t>
            </a:r>
            <a:endParaRPr lang="en-US" sz="1200" dirty="0"/>
          </a:p>
        </p:txBody>
      </p:sp>
      <p:sp>
        <p:nvSpPr>
          <p:cNvPr id="6" name="Shape 2"/>
          <p:cNvSpPr/>
          <p:nvPr/>
        </p:nvSpPr>
        <p:spPr>
          <a:xfrm>
            <a:off x="571500" y="1693069"/>
            <a:ext cx="3714750" cy="2857500"/>
          </a:xfrm>
          <a:prstGeom prst="rect">
            <a:avLst/>
          </a:prstGeom>
          <a:solidFill>
            <a:srgbClr val="FFFFFF">
              <a:alpha val="3000"/>
            </a:srgbClr>
          </a:solidFill>
          <a:ln w="9144">
            <a:solidFill>
              <a:srgbClr val="FFFFFF">
                <a:alpha val="10000"/>
              </a:srgbClr>
            </a:solidFill>
            <a:prstDash val="solid"/>
          </a:ln>
        </p:spPr>
        <p:txBody>
          <a:bodyPr/>
          <a:lstStyle/>
          <a:p>
            <a:endParaRPr lang="en-US"/>
          </a:p>
        </p:txBody>
      </p:sp>
      <p:sp>
        <p:nvSpPr>
          <p:cNvPr id="7" name="Shape 3"/>
          <p:cNvSpPr/>
          <p:nvPr/>
        </p:nvSpPr>
        <p:spPr>
          <a:xfrm>
            <a:off x="857250" y="1978819"/>
            <a:ext cx="285750" cy="285750"/>
          </a:xfrm>
          <a:prstGeom prst="ellipse">
            <a:avLst/>
          </a:prstGeom>
          <a:solidFill>
            <a:srgbClr val="00C7BE"/>
          </a:solidFill>
          <a:ln/>
        </p:spPr>
        <p:txBody>
          <a:bodyPr/>
          <a:lstStyle/>
          <a:p>
            <a:endParaRPr lang="en-US"/>
          </a:p>
        </p:txBody>
      </p:sp>
      <p:sp>
        <p:nvSpPr>
          <p:cNvPr id="8" name="Text 4"/>
          <p:cNvSpPr/>
          <p:nvPr/>
        </p:nvSpPr>
        <p:spPr>
          <a:xfrm>
            <a:off x="857250" y="1978819"/>
            <a:ext cx="285750" cy="285750"/>
          </a:xfrm>
          <a:prstGeom prst="rect">
            <a:avLst/>
          </a:prstGeom>
          <a:noFill/>
          <a:ln/>
        </p:spPr>
        <p:txBody>
          <a:bodyPr wrap="none" lIns="0" tIns="0" rIns="0" bIns="0" rtlCol="0" anchor="ctr">
            <a:spAutoFit/>
          </a:bodyPr>
          <a:lstStyle/>
          <a:p>
            <a:pPr marL="0" indent="0" algn="ctr">
              <a:buNone/>
            </a:pPr>
            <a:r>
              <a:rPr lang="en-US" sz="800" b="1" dirty="0">
                <a:solidFill>
                  <a:srgbClr val="000000"/>
                </a:solidFill>
                <a:latin typeface="Inter ExtraBold" pitchFamily="34" charset="0"/>
                <a:ea typeface="Inter ExtraBold" pitchFamily="34" charset="-122"/>
                <a:cs typeface="Inter ExtraBold" pitchFamily="34" charset="-120"/>
              </a:rPr>
              <a:t>1</a:t>
            </a:r>
            <a:endParaRPr lang="en-US" sz="800" dirty="0"/>
          </a:p>
        </p:txBody>
      </p:sp>
      <p:sp>
        <p:nvSpPr>
          <p:cNvPr id="9" name="Text 5"/>
          <p:cNvSpPr/>
          <p:nvPr/>
        </p:nvSpPr>
        <p:spPr>
          <a:xfrm>
            <a:off x="1285875" y="2035076"/>
            <a:ext cx="1428750" cy="173236"/>
          </a:xfrm>
          <a:prstGeom prst="rect">
            <a:avLst/>
          </a:prstGeom>
          <a:noFill/>
          <a:ln/>
        </p:spPr>
        <p:txBody>
          <a:bodyPr wrap="square" lIns="0" tIns="0" rIns="0" bIns="0" rtlCol="0" anchor="t">
            <a:spAutoFit/>
          </a:bodyPr>
          <a:lstStyle/>
          <a:p>
            <a:pPr marL="0" indent="0" algn="l">
              <a:buNone/>
            </a:pPr>
            <a:r>
              <a:rPr lang="en-US" sz="1050" dirty="0">
                <a:solidFill>
                  <a:srgbClr val="FFFFFF"/>
                </a:solidFill>
                <a:latin typeface="Inter Light" pitchFamily="34" charset="0"/>
                <a:ea typeface="Inter Light" pitchFamily="34" charset="-122"/>
                <a:cs typeface="Inter Light" pitchFamily="34" charset="-120"/>
              </a:rPr>
              <a:t>Paste suspicious URL</a:t>
            </a:r>
            <a:endParaRPr lang="en-US" sz="1050" dirty="0"/>
          </a:p>
        </p:txBody>
      </p:sp>
      <p:sp>
        <p:nvSpPr>
          <p:cNvPr id="10" name="Shape 6"/>
          <p:cNvSpPr/>
          <p:nvPr/>
        </p:nvSpPr>
        <p:spPr>
          <a:xfrm>
            <a:off x="857250" y="2478881"/>
            <a:ext cx="285750" cy="285750"/>
          </a:xfrm>
          <a:prstGeom prst="ellipse">
            <a:avLst/>
          </a:prstGeom>
          <a:solidFill>
            <a:srgbClr val="00C7BE"/>
          </a:solidFill>
          <a:ln/>
        </p:spPr>
        <p:txBody>
          <a:bodyPr/>
          <a:lstStyle/>
          <a:p>
            <a:endParaRPr lang="en-US"/>
          </a:p>
        </p:txBody>
      </p:sp>
      <p:sp>
        <p:nvSpPr>
          <p:cNvPr id="11" name="Text 7"/>
          <p:cNvSpPr/>
          <p:nvPr/>
        </p:nvSpPr>
        <p:spPr>
          <a:xfrm>
            <a:off x="857250" y="2478881"/>
            <a:ext cx="285750" cy="285750"/>
          </a:xfrm>
          <a:prstGeom prst="rect">
            <a:avLst/>
          </a:prstGeom>
          <a:noFill/>
          <a:ln/>
        </p:spPr>
        <p:txBody>
          <a:bodyPr wrap="none" lIns="0" tIns="0" rIns="0" bIns="0" rtlCol="0" anchor="ctr">
            <a:spAutoFit/>
          </a:bodyPr>
          <a:lstStyle/>
          <a:p>
            <a:pPr marL="0" indent="0" algn="ctr">
              <a:buNone/>
            </a:pPr>
            <a:r>
              <a:rPr lang="en-US" sz="800" b="1" dirty="0">
                <a:solidFill>
                  <a:srgbClr val="000000"/>
                </a:solidFill>
                <a:latin typeface="Inter ExtraBold" pitchFamily="34" charset="0"/>
                <a:ea typeface="Inter ExtraBold" pitchFamily="34" charset="-122"/>
                <a:cs typeface="Inter ExtraBold" pitchFamily="34" charset="-120"/>
              </a:rPr>
              <a:t>2</a:t>
            </a:r>
            <a:endParaRPr lang="en-US" sz="800" dirty="0"/>
          </a:p>
        </p:txBody>
      </p:sp>
      <p:sp>
        <p:nvSpPr>
          <p:cNvPr id="12" name="Text 8"/>
          <p:cNvSpPr/>
          <p:nvPr/>
        </p:nvSpPr>
        <p:spPr>
          <a:xfrm>
            <a:off x="1285875" y="2535138"/>
            <a:ext cx="1532334" cy="173236"/>
          </a:xfrm>
          <a:prstGeom prst="rect">
            <a:avLst/>
          </a:prstGeom>
          <a:noFill/>
          <a:ln/>
        </p:spPr>
        <p:txBody>
          <a:bodyPr wrap="square" lIns="0" tIns="0" rIns="0" bIns="0" rtlCol="0" anchor="t">
            <a:spAutoFit/>
          </a:bodyPr>
          <a:lstStyle/>
          <a:p>
            <a:pPr marL="0" indent="0" algn="l">
              <a:buNone/>
            </a:pPr>
            <a:r>
              <a:rPr lang="en-US" sz="1050" dirty="0">
                <a:solidFill>
                  <a:srgbClr val="FFFFFF"/>
                </a:solidFill>
                <a:latin typeface="Inter Light" pitchFamily="34" charset="0"/>
                <a:ea typeface="Inter Light" pitchFamily="34" charset="-122"/>
                <a:cs typeface="Inter Light" pitchFamily="34" charset="-120"/>
              </a:rPr>
              <a:t>Instant pattern analysis</a:t>
            </a:r>
            <a:endParaRPr lang="en-US" sz="1050" dirty="0"/>
          </a:p>
        </p:txBody>
      </p:sp>
      <p:sp>
        <p:nvSpPr>
          <p:cNvPr id="13" name="Shape 9"/>
          <p:cNvSpPr/>
          <p:nvPr/>
        </p:nvSpPr>
        <p:spPr>
          <a:xfrm>
            <a:off x="857250" y="2978944"/>
            <a:ext cx="285750" cy="285750"/>
          </a:xfrm>
          <a:prstGeom prst="ellipse">
            <a:avLst/>
          </a:prstGeom>
          <a:solidFill>
            <a:srgbClr val="00C7BE"/>
          </a:solidFill>
          <a:ln/>
        </p:spPr>
        <p:txBody>
          <a:bodyPr/>
          <a:lstStyle/>
          <a:p>
            <a:endParaRPr lang="en-US"/>
          </a:p>
        </p:txBody>
      </p:sp>
      <p:sp>
        <p:nvSpPr>
          <p:cNvPr id="14" name="Text 10"/>
          <p:cNvSpPr/>
          <p:nvPr/>
        </p:nvSpPr>
        <p:spPr>
          <a:xfrm>
            <a:off x="857250" y="2978944"/>
            <a:ext cx="285750" cy="285750"/>
          </a:xfrm>
          <a:prstGeom prst="rect">
            <a:avLst/>
          </a:prstGeom>
          <a:noFill/>
          <a:ln/>
        </p:spPr>
        <p:txBody>
          <a:bodyPr wrap="none" lIns="0" tIns="0" rIns="0" bIns="0" rtlCol="0" anchor="ctr">
            <a:spAutoFit/>
          </a:bodyPr>
          <a:lstStyle/>
          <a:p>
            <a:pPr marL="0" indent="0" algn="ctr">
              <a:buNone/>
            </a:pPr>
            <a:r>
              <a:rPr lang="en-US" sz="800" b="1" dirty="0">
                <a:solidFill>
                  <a:srgbClr val="000000"/>
                </a:solidFill>
                <a:latin typeface="Inter ExtraBold" pitchFamily="34" charset="0"/>
                <a:ea typeface="Inter ExtraBold" pitchFamily="34" charset="-122"/>
                <a:cs typeface="Inter ExtraBold" pitchFamily="34" charset="-120"/>
              </a:rPr>
              <a:t>3</a:t>
            </a:r>
            <a:endParaRPr lang="en-US" sz="800" dirty="0"/>
          </a:p>
        </p:txBody>
      </p:sp>
      <p:sp>
        <p:nvSpPr>
          <p:cNvPr id="15" name="Text 11"/>
          <p:cNvSpPr/>
          <p:nvPr/>
        </p:nvSpPr>
        <p:spPr>
          <a:xfrm>
            <a:off x="1285875" y="3035201"/>
            <a:ext cx="1459111" cy="173236"/>
          </a:xfrm>
          <a:prstGeom prst="rect">
            <a:avLst/>
          </a:prstGeom>
          <a:noFill/>
          <a:ln/>
        </p:spPr>
        <p:txBody>
          <a:bodyPr wrap="square" lIns="0" tIns="0" rIns="0" bIns="0" rtlCol="0" anchor="t">
            <a:spAutoFit/>
          </a:bodyPr>
          <a:lstStyle/>
          <a:p>
            <a:pPr marL="0" indent="0" algn="l">
              <a:buNone/>
            </a:pPr>
            <a:r>
              <a:rPr lang="en-US" sz="1050" dirty="0">
                <a:solidFill>
                  <a:srgbClr val="FFFFFF"/>
                </a:solidFill>
                <a:latin typeface="Inter Light" pitchFamily="34" charset="0"/>
                <a:ea typeface="Inter Light" pitchFamily="34" charset="-122"/>
                <a:cs typeface="Inter Light" pitchFamily="34" charset="-120"/>
              </a:rPr>
              <a:t>Clear safety feedback</a:t>
            </a:r>
            <a:endParaRPr lang="en-US" sz="1050" dirty="0"/>
          </a:p>
        </p:txBody>
      </p:sp>
      <p:sp>
        <p:nvSpPr>
          <p:cNvPr id="16" name="Shape 12"/>
          <p:cNvSpPr/>
          <p:nvPr/>
        </p:nvSpPr>
        <p:spPr>
          <a:xfrm>
            <a:off x="857250" y="3550444"/>
            <a:ext cx="789384"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17" name="Text 13"/>
          <p:cNvSpPr/>
          <p:nvPr/>
        </p:nvSpPr>
        <p:spPr>
          <a:xfrm>
            <a:off x="857250" y="3550444"/>
            <a:ext cx="789384"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URL Length</a:t>
            </a:r>
            <a:endParaRPr lang="en-US" sz="750" dirty="0"/>
          </a:p>
        </p:txBody>
      </p:sp>
      <p:sp>
        <p:nvSpPr>
          <p:cNvPr id="18" name="Shape 14"/>
          <p:cNvSpPr/>
          <p:nvPr/>
        </p:nvSpPr>
        <p:spPr>
          <a:xfrm>
            <a:off x="1703784" y="3550444"/>
            <a:ext cx="1160859"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19" name="Text 15"/>
          <p:cNvSpPr/>
          <p:nvPr/>
        </p:nvSpPr>
        <p:spPr>
          <a:xfrm>
            <a:off x="1703784" y="3550444"/>
            <a:ext cx="1160859"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Suspicious Patterns</a:t>
            </a:r>
            <a:endParaRPr lang="en-US" sz="750" dirty="0"/>
          </a:p>
        </p:txBody>
      </p:sp>
      <p:sp>
        <p:nvSpPr>
          <p:cNvPr id="20" name="Shape 16"/>
          <p:cNvSpPr/>
          <p:nvPr/>
        </p:nvSpPr>
        <p:spPr>
          <a:xfrm>
            <a:off x="2921794" y="3550444"/>
            <a:ext cx="951905"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21" name="Text 17"/>
          <p:cNvSpPr/>
          <p:nvPr/>
        </p:nvSpPr>
        <p:spPr>
          <a:xfrm>
            <a:off x="2921794" y="3550444"/>
            <a:ext cx="951905"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Typo-squatting</a:t>
            </a:r>
            <a:endParaRPr lang="en-US" sz="750" dirty="0"/>
          </a:p>
        </p:txBody>
      </p:sp>
      <p:sp>
        <p:nvSpPr>
          <p:cNvPr id="22" name="Shape 18"/>
          <p:cNvSpPr/>
          <p:nvPr/>
        </p:nvSpPr>
        <p:spPr>
          <a:xfrm>
            <a:off x="857250" y="3857625"/>
            <a:ext cx="789384"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23" name="Text 19"/>
          <p:cNvSpPr/>
          <p:nvPr/>
        </p:nvSpPr>
        <p:spPr>
          <a:xfrm>
            <a:off x="857250" y="3857625"/>
            <a:ext cx="789384"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Link Format</a:t>
            </a:r>
            <a:endParaRPr lang="en-US" sz="750" dirty="0"/>
          </a:p>
        </p:txBody>
      </p:sp>
      <p:sp>
        <p:nvSpPr>
          <p:cNvPr id="24" name="Text 20"/>
          <p:cNvSpPr/>
          <p:nvPr/>
        </p:nvSpPr>
        <p:spPr>
          <a:xfrm>
            <a:off x="4857750" y="1271588"/>
            <a:ext cx="3714750" cy="207169"/>
          </a:xfrm>
          <a:prstGeom prst="rect">
            <a:avLst/>
          </a:prstGeom>
          <a:noFill/>
          <a:ln/>
        </p:spPr>
        <p:txBody>
          <a:bodyPr wrap="square" lIns="0" tIns="0" rIns="0" bIns="0" rtlCol="0" anchor="t">
            <a:spAutoFit/>
          </a:bodyPr>
          <a:lstStyle/>
          <a:p>
            <a:pPr marL="0" indent="0" algn="l">
              <a:buNone/>
            </a:pPr>
            <a:r>
              <a:rPr lang="en-US" sz="1200" b="1" kern="0" spc="2" dirty="0">
                <a:solidFill>
                  <a:srgbClr val="A1A1A6"/>
                </a:solidFill>
                <a:latin typeface="Inter ExtraBold" pitchFamily="34" charset="0"/>
                <a:ea typeface="Inter ExtraBold" pitchFamily="34" charset="-122"/>
                <a:cs typeface="Inter ExtraBold" pitchFamily="34" charset="-120"/>
              </a:rPr>
              <a:t>CLOUD ENGINEERING</a:t>
            </a:r>
            <a:endParaRPr lang="en-US" sz="1200" dirty="0"/>
          </a:p>
        </p:txBody>
      </p:sp>
      <p:sp>
        <p:nvSpPr>
          <p:cNvPr id="25" name="Shape 21"/>
          <p:cNvSpPr/>
          <p:nvPr/>
        </p:nvSpPr>
        <p:spPr>
          <a:xfrm>
            <a:off x="4857750" y="1693069"/>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26" name="Text 22"/>
          <p:cNvSpPr/>
          <p:nvPr/>
        </p:nvSpPr>
        <p:spPr>
          <a:xfrm>
            <a:off x="5072063" y="1835944"/>
            <a:ext cx="662583"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Security</a:t>
            </a:r>
            <a:endParaRPr lang="en-US" sz="1100" dirty="0"/>
          </a:p>
        </p:txBody>
      </p:sp>
      <p:sp>
        <p:nvSpPr>
          <p:cNvPr id="27" name="Text 23"/>
          <p:cNvSpPr/>
          <p:nvPr/>
        </p:nvSpPr>
        <p:spPr>
          <a:xfrm>
            <a:off x="7145536" y="1861840"/>
            <a:ext cx="1212652" cy="137517"/>
          </a:xfrm>
          <a:prstGeom prst="rect">
            <a:avLst/>
          </a:prstGeom>
          <a:noFill/>
          <a:ln/>
        </p:spPr>
        <p:txBody>
          <a:bodyPr wrap="non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WAF v2 + Private VNet</a:t>
            </a:r>
            <a:endParaRPr lang="en-US" sz="850" dirty="0"/>
          </a:p>
        </p:txBody>
      </p:sp>
      <p:sp>
        <p:nvSpPr>
          <p:cNvPr id="28" name="Shape 24"/>
          <p:cNvSpPr/>
          <p:nvPr/>
        </p:nvSpPr>
        <p:spPr>
          <a:xfrm>
            <a:off x="4857750" y="2275284"/>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29" name="Text 25"/>
          <p:cNvSpPr/>
          <p:nvPr/>
        </p:nvSpPr>
        <p:spPr>
          <a:xfrm>
            <a:off x="5072063" y="2418159"/>
            <a:ext cx="917972"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Automation</a:t>
            </a:r>
            <a:endParaRPr lang="en-US" sz="1100" dirty="0"/>
          </a:p>
        </p:txBody>
      </p:sp>
      <p:sp>
        <p:nvSpPr>
          <p:cNvPr id="30" name="Text 26"/>
          <p:cNvSpPr/>
          <p:nvPr/>
        </p:nvSpPr>
        <p:spPr>
          <a:xfrm>
            <a:off x="7302698" y="2444055"/>
            <a:ext cx="1055489" cy="137517"/>
          </a:xfrm>
          <a:prstGeom prst="rect">
            <a:avLst/>
          </a:prstGeom>
          <a:noFill/>
          <a:ln/>
        </p:spPr>
        <p:txBody>
          <a:bodyPr wrap="non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Terraform + Ansible</a:t>
            </a:r>
            <a:endParaRPr lang="en-US" sz="850" dirty="0"/>
          </a:p>
        </p:txBody>
      </p:sp>
      <p:sp>
        <p:nvSpPr>
          <p:cNvPr id="31" name="Shape 27"/>
          <p:cNvSpPr/>
          <p:nvPr/>
        </p:nvSpPr>
        <p:spPr>
          <a:xfrm>
            <a:off x="4857750" y="2857500"/>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32" name="Text 28"/>
          <p:cNvSpPr/>
          <p:nvPr/>
        </p:nvSpPr>
        <p:spPr>
          <a:xfrm>
            <a:off x="5072063" y="3000375"/>
            <a:ext cx="855464"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Monitoring</a:t>
            </a:r>
            <a:endParaRPr lang="en-US" sz="1100" dirty="0"/>
          </a:p>
        </p:txBody>
      </p:sp>
      <p:sp>
        <p:nvSpPr>
          <p:cNvPr id="33" name="Text 29"/>
          <p:cNvSpPr/>
          <p:nvPr/>
        </p:nvSpPr>
        <p:spPr>
          <a:xfrm>
            <a:off x="7054453" y="3026271"/>
            <a:ext cx="1303734" cy="137517"/>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Azure Monitor + Insights</a:t>
            </a:r>
            <a:endParaRPr lang="en-US" sz="850" dirty="0"/>
          </a:p>
        </p:txBody>
      </p:sp>
      <p:sp>
        <p:nvSpPr>
          <p:cNvPr id="34" name="Shape 30"/>
          <p:cNvSpPr/>
          <p:nvPr/>
        </p:nvSpPr>
        <p:spPr>
          <a:xfrm>
            <a:off x="4857750" y="3439716"/>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35" name="Text 31"/>
          <p:cNvSpPr/>
          <p:nvPr/>
        </p:nvSpPr>
        <p:spPr>
          <a:xfrm>
            <a:off x="5072063" y="3582591"/>
            <a:ext cx="1091208"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Infrastructure</a:t>
            </a:r>
            <a:endParaRPr lang="en-US" sz="1100" dirty="0"/>
          </a:p>
        </p:txBody>
      </p:sp>
      <p:sp>
        <p:nvSpPr>
          <p:cNvPr id="36" name="Text 32"/>
          <p:cNvSpPr/>
          <p:nvPr/>
        </p:nvSpPr>
        <p:spPr>
          <a:xfrm>
            <a:off x="7016948" y="3608487"/>
            <a:ext cx="1341239" cy="137517"/>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3-Tier Azure Architecture</a:t>
            </a:r>
            <a:endParaRPr lang="en-US" sz="850" dirty="0"/>
          </a:p>
        </p:txBody>
      </p:sp>
      <p:pic>
        <p:nvPicPr>
          <p:cNvPr id="37" name="Picture 36" descr="idda_en_clean2.png"/>
          <p:cNvPicPr>
            <a:picLocks noChangeAspect="1"/>
          </p:cNvPicPr>
          <p:nvPr/>
        </p:nvPicPr>
        <p:blipFill>
          <a:blip r:embed="rId4"/>
          <a:stretch>
            <a:fillRect/>
          </a:stretch>
        </p:blipFill>
        <p:spPr>
          <a:xfrm>
            <a:off x="274320" y="182880"/>
            <a:ext cx="1280160" cy="843999"/>
          </a:xfrm>
          <a:prstGeom prst="rect">
            <a:avLst/>
          </a:prstGeom>
        </p:spPr>
      </p:pic>
      <p:pic>
        <p:nvPicPr>
          <p:cNvPr id="38" name="Picture 37" descr="ironhack.png"/>
          <p:cNvPicPr>
            <a:picLocks noChangeAspect="1"/>
          </p:cNvPicPr>
          <p:nvPr/>
        </p:nvPicPr>
        <p:blipFill>
          <a:blip r:embed="rId5"/>
          <a:stretch>
            <a:fillRect/>
          </a:stretch>
        </p:blipFill>
        <p:spPr>
          <a:xfrm>
            <a:off x="7772400" y="182880"/>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471738"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Public App, Private System</a:t>
            </a:r>
            <a:endParaRPr lang="en-US" sz="2450" dirty="0"/>
          </a:p>
        </p:txBody>
      </p:sp>
      <p:sp>
        <p:nvSpPr>
          <p:cNvPr id="7" name="Shape 2"/>
          <p:cNvSpPr/>
          <p:nvPr/>
        </p:nvSpPr>
        <p:spPr>
          <a:xfrm>
            <a:off x="4857750" y="1103263"/>
            <a:ext cx="3714750" cy="2361009"/>
          </a:xfrm>
          <a:prstGeom prst="rect">
            <a:avLst/>
          </a:prstGeom>
          <a:solidFill>
            <a:srgbClr val="FFFFFF">
              <a:alpha val="3000"/>
            </a:srgbClr>
          </a:solidFill>
          <a:ln w="9144">
            <a:solidFill>
              <a:srgbClr val="00C7BE">
                <a:alpha val="30000"/>
              </a:srgbClr>
            </a:solidFill>
            <a:prstDash val="solid"/>
          </a:ln>
        </p:spPr>
        <p:txBody>
          <a:bodyPr/>
          <a:lstStyle/>
          <a:p>
            <a:endParaRPr lang="en-US"/>
          </a:p>
        </p:txBody>
      </p:sp>
      <p:sp>
        <p:nvSpPr>
          <p:cNvPr id="8" name="Text 3"/>
          <p:cNvSpPr/>
          <p:nvPr/>
        </p:nvSpPr>
        <p:spPr>
          <a:xfrm>
            <a:off x="5072063" y="1430536"/>
            <a:ext cx="3286125" cy="173236"/>
          </a:xfrm>
          <a:prstGeom prst="rect">
            <a:avLst/>
          </a:prstGeom>
          <a:noFill/>
          <a:ln/>
        </p:spPr>
        <p:txBody>
          <a:bodyPr wrap="square" lIns="0" tIns="0" rIns="0" bIns="0" rtlCol="0" anchor="t">
            <a:spAutoFit/>
          </a:bodyPr>
          <a:lstStyle/>
          <a:p>
            <a:pPr marL="0" indent="0" algn="l">
              <a:buNone/>
            </a:pPr>
            <a:r>
              <a:rPr lang="en-US" sz="1000" b="1" kern="0" spc="1" dirty="0">
                <a:solidFill>
                  <a:srgbClr val="00C7BE"/>
                </a:solidFill>
                <a:latin typeface="Inter ExtraBold" pitchFamily="34" charset="0"/>
                <a:ea typeface="Inter ExtraBold" pitchFamily="34" charset="-122"/>
                <a:cs typeface="Inter ExtraBold" pitchFamily="34" charset="-120"/>
              </a:rPr>
              <a:t>SECURE TRAFFIC PATH</a:t>
            </a:r>
            <a:endParaRPr lang="en-US" sz="1000" dirty="0"/>
          </a:p>
        </p:txBody>
      </p:sp>
      <p:pic>
        <p:nvPicPr>
          <p:cNvPr id="9" name="Image 2" descr="preencoded.png"/>
          <p:cNvPicPr>
            <a:picLocks noChangeAspect="1"/>
          </p:cNvPicPr>
          <p:nvPr/>
        </p:nvPicPr>
        <p:blipFill>
          <a:blip r:embed="rId4"/>
          <a:stretch>
            <a:fillRect/>
          </a:stretch>
        </p:blipFill>
        <p:spPr>
          <a:xfrm>
            <a:off x="5072063" y="1760041"/>
            <a:ext cx="171450" cy="128588"/>
          </a:xfrm>
          <a:prstGeom prst="rect">
            <a:avLst/>
          </a:prstGeom>
        </p:spPr>
      </p:pic>
      <p:sp>
        <p:nvSpPr>
          <p:cNvPr id="10" name="Text 4"/>
          <p:cNvSpPr/>
          <p:nvPr/>
        </p:nvSpPr>
        <p:spPr>
          <a:xfrm>
            <a:off x="5350669" y="1746647"/>
            <a:ext cx="803672" cy="155377"/>
          </a:xfrm>
          <a:prstGeom prst="rect">
            <a:avLst/>
          </a:prstGeom>
          <a:noFill/>
          <a:ln/>
        </p:spPr>
        <p:txBody>
          <a:bodyPr wrap="non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User Request</a:t>
            </a:r>
            <a:endParaRPr lang="en-US" sz="950" dirty="0"/>
          </a:p>
        </p:txBody>
      </p:sp>
      <p:pic>
        <p:nvPicPr>
          <p:cNvPr id="11" name="Image 3" descr="preencoded.png"/>
          <p:cNvPicPr>
            <a:picLocks noChangeAspect="1"/>
          </p:cNvPicPr>
          <p:nvPr/>
        </p:nvPicPr>
        <p:blipFill>
          <a:blip r:embed="rId5"/>
          <a:stretch>
            <a:fillRect/>
          </a:stretch>
        </p:blipFill>
        <p:spPr>
          <a:xfrm>
            <a:off x="5072063" y="2001143"/>
            <a:ext cx="171450" cy="128588"/>
          </a:xfrm>
          <a:prstGeom prst="rect">
            <a:avLst/>
          </a:prstGeom>
        </p:spPr>
      </p:pic>
      <p:sp>
        <p:nvSpPr>
          <p:cNvPr id="12" name="Text 5"/>
          <p:cNvSpPr/>
          <p:nvPr/>
        </p:nvSpPr>
        <p:spPr>
          <a:xfrm>
            <a:off x="5350669" y="1987748"/>
            <a:ext cx="1339453" cy="155377"/>
          </a:xfrm>
          <a:prstGeom prst="rect">
            <a:avLst/>
          </a:prstGeom>
          <a:noFill/>
          <a:ln/>
        </p:spPr>
        <p:txBody>
          <a:bodyPr wrap="squar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checklink.duckdns.org</a:t>
            </a:r>
            <a:endParaRPr lang="en-US" sz="950" dirty="0"/>
          </a:p>
        </p:txBody>
      </p:sp>
      <p:sp>
        <p:nvSpPr>
          <p:cNvPr id="13" name="Text 6"/>
          <p:cNvSpPr/>
          <p:nvPr/>
        </p:nvSpPr>
        <p:spPr>
          <a:xfrm>
            <a:off x="5350669" y="2228850"/>
            <a:ext cx="1798439" cy="155377"/>
          </a:xfrm>
          <a:prstGeom prst="rect">
            <a:avLst/>
          </a:prstGeom>
          <a:noFill/>
          <a:ln/>
        </p:spPr>
        <p:txBody>
          <a:bodyPr wrap="square" lIns="0" tIns="0" rIns="0" bIns="0" rtlCol="0" anchor="t">
            <a:spAutoFit/>
          </a:bodyPr>
          <a:lstStyle/>
          <a:p>
            <a:pPr marL="0" indent="0" algn="l">
              <a:buNone/>
            </a:pPr>
            <a:r>
              <a:rPr lang="en-US" sz="900" b="1" dirty="0">
                <a:solidFill>
                  <a:srgbClr val="FFFFFF"/>
                </a:solidFill>
                <a:latin typeface="Inter ExtraBold" pitchFamily="34" charset="0"/>
                <a:ea typeface="Inter ExtraBold" pitchFamily="34" charset="-122"/>
                <a:cs typeface="Inter ExtraBold" pitchFamily="34" charset="-120"/>
              </a:rPr>
              <a:t>Azure WAF v2 (Public Entry)</a:t>
            </a:r>
            <a:endParaRPr lang="en-US" sz="900" dirty="0"/>
          </a:p>
        </p:txBody>
      </p:sp>
      <p:pic>
        <p:nvPicPr>
          <p:cNvPr id="14" name="Image 4" descr="preencoded.png"/>
          <p:cNvPicPr>
            <a:picLocks noChangeAspect="1"/>
          </p:cNvPicPr>
          <p:nvPr/>
        </p:nvPicPr>
        <p:blipFill>
          <a:blip r:embed="rId6"/>
          <a:stretch>
            <a:fillRect/>
          </a:stretch>
        </p:blipFill>
        <p:spPr>
          <a:xfrm>
            <a:off x="5072063" y="2483346"/>
            <a:ext cx="171450" cy="128588"/>
          </a:xfrm>
          <a:prstGeom prst="rect">
            <a:avLst/>
          </a:prstGeom>
        </p:spPr>
      </p:pic>
      <p:sp>
        <p:nvSpPr>
          <p:cNvPr id="15" name="Text 7"/>
          <p:cNvSpPr/>
          <p:nvPr/>
        </p:nvSpPr>
        <p:spPr>
          <a:xfrm>
            <a:off x="5350669" y="2469952"/>
            <a:ext cx="1407319" cy="155377"/>
          </a:xfrm>
          <a:prstGeom prst="rect">
            <a:avLst/>
          </a:prstGeom>
          <a:noFill/>
          <a:ln/>
        </p:spPr>
        <p:txBody>
          <a:bodyPr wrap="squar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Internal Load Balancers</a:t>
            </a:r>
            <a:endParaRPr lang="en-US" sz="950" dirty="0"/>
          </a:p>
        </p:txBody>
      </p:sp>
      <p:pic>
        <p:nvPicPr>
          <p:cNvPr id="16" name="Image 5" descr="preencoded.png"/>
          <p:cNvPicPr>
            <a:picLocks noChangeAspect="1"/>
          </p:cNvPicPr>
          <p:nvPr/>
        </p:nvPicPr>
        <p:blipFill>
          <a:blip r:embed="rId7"/>
          <a:stretch>
            <a:fillRect/>
          </a:stretch>
        </p:blipFill>
        <p:spPr>
          <a:xfrm>
            <a:off x="5072063" y="2724448"/>
            <a:ext cx="171450" cy="128588"/>
          </a:xfrm>
          <a:prstGeom prst="rect">
            <a:avLst/>
          </a:prstGeom>
        </p:spPr>
      </p:pic>
      <p:sp>
        <p:nvSpPr>
          <p:cNvPr id="17" name="Text 8"/>
          <p:cNvSpPr/>
          <p:nvPr/>
        </p:nvSpPr>
        <p:spPr>
          <a:xfrm>
            <a:off x="5350669" y="2711053"/>
            <a:ext cx="2071688" cy="155377"/>
          </a:xfrm>
          <a:prstGeom prst="rect">
            <a:avLst/>
          </a:prstGeom>
          <a:noFill/>
          <a:ln/>
        </p:spPr>
        <p:txBody>
          <a:bodyPr wrap="square" lIns="0" tIns="0" rIns="0" bIns="0" rtlCol="0" anchor="t">
            <a:spAutoFit/>
          </a:bodyPr>
          <a:lstStyle/>
          <a:p>
            <a:pPr marL="0" indent="0" algn="l">
              <a:buNone/>
            </a:pPr>
            <a:r>
              <a:rPr lang="en-US" sz="900" b="1" dirty="0">
                <a:solidFill>
                  <a:srgbClr val="FFFFFF"/>
                </a:solidFill>
                <a:latin typeface="Inter ExtraBold" pitchFamily="34" charset="0"/>
                <a:ea typeface="Inter ExtraBold" pitchFamily="34" charset="-122"/>
                <a:cs typeface="Inter ExtraBold" pitchFamily="34" charset="-120"/>
              </a:rPr>
              <a:t>Private Frontend &amp; Backend VMs</a:t>
            </a:r>
            <a:endParaRPr lang="en-US" sz="900" dirty="0"/>
          </a:p>
        </p:txBody>
      </p:sp>
      <p:pic>
        <p:nvPicPr>
          <p:cNvPr id="18" name="Image 6" descr="preencoded.png"/>
          <p:cNvPicPr>
            <a:picLocks noChangeAspect="1"/>
          </p:cNvPicPr>
          <p:nvPr/>
        </p:nvPicPr>
        <p:blipFill>
          <a:blip r:embed="rId5"/>
          <a:stretch>
            <a:fillRect/>
          </a:stretch>
        </p:blipFill>
        <p:spPr>
          <a:xfrm>
            <a:off x="5072063" y="2965549"/>
            <a:ext cx="171450" cy="128588"/>
          </a:xfrm>
          <a:prstGeom prst="rect">
            <a:avLst/>
          </a:prstGeom>
        </p:spPr>
      </p:pic>
      <p:sp>
        <p:nvSpPr>
          <p:cNvPr id="19" name="Text 9"/>
          <p:cNvSpPr/>
          <p:nvPr/>
        </p:nvSpPr>
        <p:spPr>
          <a:xfrm>
            <a:off x="5350669" y="2952155"/>
            <a:ext cx="1034058" cy="155377"/>
          </a:xfrm>
          <a:prstGeom prst="rect">
            <a:avLst/>
          </a:prstGeom>
          <a:noFill/>
          <a:ln/>
        </p:spPr>
        <p:txBody>
          <a:bodyPr wrap="non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Private Endpoints</a:t>
            </a:r>
            <a:endParaRPr lang="en-US" sz="950" dirty="0"/>
          </a:p>
        </p:txBody>
      </p:sp>
      <p:pic>
        <p:nvPicPr>
          <p:cNvPr id="20" name="Image 7" descr="preencoded.png"/>
          <p:cNvPicPr>
            <a:picLocks noChangeAspect="1"/>
          </p:cNvPicPr>
          <p:nvPr/>
        </p:nvPicPr>
        <p:blipFill>
          <a:blip r:embed="rId8"/>
          <a:stretch>
            <a:fillRect/>
          </a:stretch>
        </p:blipFill>
        <p:spPr>
          <a:xfrm>
            <a:off x="5072063" y="3206651"/>
            <a:ext cx="171450" cy="128588"/>
          </a:xfrm>
          <a:prstGeom prst="rect">
            <a:avLst/>
          </a:prstGeom>
        </p:spPr>
      </p:pic>
      <p:sp>
        <p:nvSpPr>
          <p:cNvPr id="21" name="Text 10"/>
          <p:cNvSpPr/>
          <p:nvPr/>
        </p:nvSpPr>
        <p:spPr>
          <a:xfrm>
            <a:off x="5350669" y="3193256"/>
            <a:ext cx="1421606" cy="155377"/>
          </a:xfrm>
          <a:prstGeom prst="rect">
            <a:avLst/>
          </a:prstGeom>
          <a:noFill/>
          <a:ln/>
        </p:spPr>
        <p:txBody>
          <a:bodyPr wrap="square" lIns="0" tIns="0" rIns="0" bIns="0" rtlCol="0" anchor="t">
            <a:spAutoFit/>
          </a:bodyPr>
          <a:lstStyle/>
          <a:p>
            <a:pPr marL="0" indent="0" algn="l">
              <a:buNone/>
            </a:pPr>
            <a:r>
              <a:rPr lang="en-US" sz="900" b="1" dirty="0">
                <a:solidFill>
                  <a:srgbClr val="FFFFFF"/>
                </a:solidFill>
                <a:latin typeface="Inter ExtraBold" pitchFamily="34" charset="0"/>
                <a:ea typeface="Inter ExtraBold" pitchFamily="34" charset="-122"/>
                <a:cs typeface="Inter ExtraBold" pitchFamily="34" charset="-120"/>
              </a:rPr>
              <a:t>Azure SQL &amp; Key Vault</a:t>
            </a:r>
            <a:endParaRPr lang="en-US" sz="900" dirty="0"/>
          </a:p>
        </p:txBody>
      </p:sp>
      <p:pic>
        <p:nvPicPr>
          <p:cNvPr id="22" name="Image 8" descr="preencoded.png"/>
          <p:cNvPicPr>
            <a:picLocks noChangeAspect="1"/>
          </p:cNvPicPr>
          <p:nvPr/>
        </p:nvPicPr>
        <p:blipFill>
          <a:blip r:embed="rId9"/>
          <a:stretch>
            <a:fillRect/>
          </a:stretch>
        </p:blipFill>
        <p:spPr>
          <a:xfrm>
            <a:off x="5103403" y="3816548"/>
            <a:ext cx="100013" cy="100013"/>
          </a:xfrm>
          <a:prstGeom prst="rect">
            <a:avLst/>
          </a:prstGeom>
        </p:spPr>
      </p:pic>
      <p:sp>
        <p:nvSpPr>
          <p:cNvPr id="23" name="Text 11"/>
          <p:cNvSpPr/>
          <p:nvPr/>
        </p:nvSpPr>
        <p:spPr>
          <a:xfrm>
            <a:off x="5274853" y="3787973"/>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No public IPs on application VMs</a:t>
            </a:r>
            <a:endParaRPr lang="en-US" sz="850" dirty="0"/>
          </a:p>
        </p:txBody>
      </p:sp>
      <p:pic>
        <p:nvPicPr>
          <p:cNvPr id="24" name="Image 9" descr="preencoded.png"/>
          <p:cNvPicPr>
            <a:picLocks noChangeAspect="1"/>
          </p:cNvPicPr>
          <p:nvPr/>
        </p:nvPicPr>
        <p:blipFill>
          <a:blip r:embed="rId9"/>
          <a:stretch>
            <a:fillRect/>
          </a:stretch>
        </p:blipFill>
        <p:spPr>
          <a:xfrm>
            <a:off x="7149108" y="3777978"/>
            <a:ext cx="100013" cy="100013"/>
          </a:xfrm>
          <a:prstGeom prst="rect">
            <a:avLst/>
          </a:prstGeom>
        </p:spPr>
      </p:pic>
      <p:sp>
        <p:nvSpPr>
          <p:cNvPr id="25" name="Text 12"/>
          <p:cNvSpPr/>
          <p:nvPr/>
        </p:nvSpPr>
        <p:spPr>
          <a:xfrm>
            <a:off x="7320558" y="3749403"/>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SQL/Vault isolated in private subnets</a:t>
            </a:r>
            <a:endParaRPr lang="en-US" sz="850" dirty="0"/>
          </a:p>
        </p:txBody>
      </p:sp>
      <p:pic>
        <p:nvPicPr>
          <p:cNvPr id="26" name="Image 10" descr="preencoded.png"/>
          <p:cNvPicPr>
            <a:picLocks noChangeAspect="1"/>
          </p:cNvPicPr>
          <p:nvPr/>
        </p:nvPicPr>
        <p:blipFill>
          <a:blip r:embed="rId10"/>
          <a:stretch>
            <a:fillRect/>
          </a:stretch>
        </p:blipFill>
        <p:spPr>
          <a:xfrm>
            <a:off x="5103403" y="4234457"/>
            <a:ext cx="100013" cy="100013"/>
          </a:xfrm>
          <a:prstGeom prst="rect">
            <a:avLst/>
          </a:prstGeom>
        </p:spPr>
      </p:pic>
      <p:sp>
        <p:nvSpPr>
          <p:cNvPr id="27" name="Text 13"/>
          <p:cNvSpPr/>
          <p:nvPr/>
        </p:nvSpPr>
        <p:spPr>
          <a:xfrm>
            <a:off x="5274853" y="4205882"/>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NAT Gateway for secure outbound only</a:t>
            </a:r>
            <a:endParaRPr lang="en-US" sz="850" dirty="0"/>
          </a:p>
        </p:txBody>
      </p:sp>
      <p:pic>
        <p:nvPicPr>
          <p:cNvPr id="28" name="Image 11" descr="preencoded.png"/>
          <p:cNvPicPr>
            <a:picLocks noChangeAspect="1"/>
          </p:cNvPicPr>
          <p:nvPr/>
        </p:nvPicPr>
        <p:blipFill>
          <a:blip r:embed="rId10"/>
          <a:stretch>
            <a:fillRect/>
          </a:stretch>
        </p:blipFill>
        <p:spPr>
          <a:xfrm>
            <a:off x="7149108" y="4195887"/>
            <a:ext cx="100013" cy="100013"/>
          </a:xfrm>
          <a:prstGeom prst="rect">
            <a:avLst/>
          </a:prstGeom>
        </p:spPr>
      </p:pic>
      <p:sp>
        <p:nvSpPr>
          <p:cNvPr id="29" name="Text 14"/>
          <p:cNvSpPr/>
          <p:nvPr/>
        </p:nvSpPr>
        <p:spPr>
          <a:xfrm>
            <a:off x="7320558" y="4167312"/>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WAF protects against OWASP Top 10</a:t>
            </a:r>
            <a:endParaRPr lang="en-US" sz="850" dirty="0"/>
          </a:p>
        </p:txBody>
      </p:sp>
      <p:pic>
        <p:nvPicPr>
          <p:cNvPr id="30" name="Picture 29">
            <a:extLst>
              <a:ext uri="{FF2B5EF4-FFF2-40B4-BE49-F238E27FC236}">
                <a16:creationId xmlns:a16="http://schemas.microsoft.com/office/drawing/2014/main" id="{611836B0-03A6-76BE-3BAE-1098F4CBC152}"/>
              </a:ext>
            </a:extLst>
          </p:cNvPr>
          <p:cNvPicPr>
            <a:picLocks noChangeAspect="1"/>
          </p:cNvPicPr>
          <p:nvPr/>
        </p:nvPicPr>
        <p:blipFill>
          <a:blip r:embed="rId11"/>
          <a:stretch>
            <a:fillRect/>
          </a:stretch>
        </p:blipFill>
        <p:spPr>
          <a:xfrm>
            <a:off x="567483" y="1103263"/>
            <a:ext cx="4290267" cy="2860178"/>
          </a:xfrm>
          <a:prstGeom prst="rect">
            <a:avLst/>
          </a:prstGeom>
        </p:spPr>
      </p:pic>
      <p:pic>
        <p:nvPicPr>
          <p:cNvPr id="31" name="Picture 30" descr="idda_en_clean2.png"/>
          <p:cNvPicPr>
            <a:picLocks noChangeAspect="1"/>
          </p:cNvPicPr>
          <p:nvPr/>
        </p:nvPicPr>
        <p:blipFill>
          <a:blip r:embed="rId12"/>
          <a:stretch>
            <a:fillRect/>
          </a:stretch>
        </p:blipFill>
        <p:spPr>
          <a:xfrm>
            <a:off x="274320" y="182880"/>
            <a:ext cx="1280160" cy="843999"/>
          </a:xfrm>
          <a:prstGeom prst="rect">
            <a:avLst/>
          </a:prstGeom>
        </p:spPr>
      </p:pic>
      <p:pic>
        <p:nvPicPr>
          <p:cNvPr id="32" name="Picture 31" descr="ironhack.png"/>
          <p:cNvPicPr>
            <a:picLocks noChangeAspect="1"/>
          </p:cNvPicPr>
          <p:nvPr/>
        </p:nvPicPr>
        <p:blipFill>
          <a:blip r:embed="rId13"/>
          <a:stretch>
            <a:fillRect/>
          </a:stretch>
        </p:blipFill>
        <p:spPr>
          <a:xfrm>
            <a:off x="7772400" y="18288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93519"/>
          </a:xfrm>
          <a:prstGeom prst="rect">
            <a:avLst/>
          </a:prstGeom>
        </p:spPr>
      </p:pic>
      <p:sp>
        <p:nvSpPr>
          <p:cNvPr id="4" name="Text 0"/>
          <p:cNvSpPr/>
          <p:nvPr/>
        </p:nvSpPr>
        <p:spPr>
          <a:xfrm>
            <a:off x="1956352" y="503098"/>
            <a:ext cx="8572500" cy="414338"/>
          </a:xfrm>
          <a:prstGeom prst="rect">
            <a:avLst/>
          </a:prstGeom>
          <a:noFill/>
          <a:ln/>
        </p:spPr>
        <p:txBody>
          <a:bodyPr wrap="square" lIns="0" tIns="0" rIns="0" bIns="0" rtlCol="0" anchor="t">
            <a:spAutoFit/>
          </a:bodyPr>
          <a:lstStyle/>
          <a:p>
            <a:pPr marL="0" indent="0" algn="l">
              <a:buNone/>
            </a:pPr>
            <a:r>
              <a:rPr lang="en-US" sz="2450" b="1" dirty="0">
                <a:solidFill>
                  <a:srgbClr val="AF52DE"/>
                </a:solidFill>
                <a:latin typeface="Inter ExtraBold" pitchFamily="34" charset="0"/>
                <a:ea typeface="Inter ExtraBold" pitchFamily="34" charset="-122"/>
                <a:cs typeface="Inter ExtraBold" pitchFamily="34" charset="-120"/>
              </a:rPr>
              <a:t>Faster Delivery, Less Human Error</a:t>
            </a:r>
            <a:endParaRPr lang="en-US" sz="2450" dirty="0"/>
          </a:p>
        </p:txBody>
      </p:sp>
      <p:sp>
        <p:nvSpPr>
          <p:cNvPr id="5" name="Shape 1"/>
          <p:cNvSpPr/>
          <p:nvPr/>
        </p:nvSpPr>
        <p:spPr>
          <a:xfrm>
            <a:off x="571500" y="1200150"/>
            <a:ext cx="4818766" cy="726877"/>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821531" y="1439466"/>
            <a:ext cx="285750" cy="228600"/>
          </a:xfrm>
          <a:prstGeom prst="rect">
            <a:avLst/>
          </a:prstGeom>
        </p:spPr>
      </p:pic>
      <p:sp>
        <p:nvSpPr>
          <p:cNvPr id="7" name="Text 2"/>
          <p:cNvSpPr/>
          <p:nvPr/>
        </p:nvSpPr>
        <p:spPr>
          <a:xfrm>
            <a:off x="1321594" y="1378744"/>
            <a:ext cx="3407569"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Terraform</a:t>
            </a:r>
            <a:endParaRPr lang="en-US" sz="1100" dirty="0"/>
          </a:p>
        </p:txBody>
      </p:sp>
      <p:sp>
        <p:nvSpPr>
          <p:cNvPr id="8" name="Text 3"/>
          <p:cNvSpPr/>
          <p:nvPr/>
        </p:nvSpPr>
        <p:spPr>
          <a:xfrm>
            <a:off x="1321594" y="1596628"/>
            <a:ext cx="3407569"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Infrastructure as Code: Provisions the entire Azure environment.</a:t>
            </a:r>
            <a:endParaRPr lang="en-US" sz="850" dirty="0">
              <a:solidFill>
                <a:schemeClr val="bg1"/>
              </a:solidFill>
            </a:endParaRPr>
          </a:p>
        </p:txBody>
      </p:sp>
      <p:sp>
        <p:nvSpPr>
          <p:cNvPr id="9" name="Shape 4"/>
          <p:cNvSpPr/>
          <p:nvPr/>
        </p:nvSpPr>
        <p:spPr>
          <a:xfrm>
            <a:off x="571500" y="2019895"/>
            <a:ext cx="4818766" cy="864394"/>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820555" y="2327970"/>
            <a:ext cx="285750" cy="228600"/>
          </a:xfrm>
          <a:prstGeom prst="rect">
            <a:avLst/>
          </a:prstGeom>
        </p:spPr>
      </p:pic>
      <p:sp>
        <p:nvSpPr>
          <p:cNvPr id="11" name="Text 5"/>
          <p:cNvSpPr/>
          <p:nvPr/>
        </p:nvSpPr>
        <p:spPr>
          <a:xfrm>
            <a:off x="1319668" y="2198489"/>
            <a:ext cx="3856286"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Ansible</a:t>
            </a:r>
            <a:endParaRPr lang="en-US" sz="1100" dirty="0"/>
          </a:p>
        </p:txBody>
      </p:sp>
      <p:sp>
        <p:nvSpPr>
          <p:cNvPr id="12" name="Text 6"/>
          <p:cNvSpPr/>
          <p:nvPr/>
        </p:nvSpPr>
        <p:spPr>
          <a:xfrm>
            <a:off x="1319668" y="2416373"/>
            <a:ext cx="3856286"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Configuration Management: Sets up servers and deploys the application.</a:t>
            </a:r>
            <a:endParaRPr lang="en-US" sz="850" dirty="0">
              <a:solidFill>
                <a:schemeClr val="bg1"/>
              </a:solidFill>
            </a:endParaRPr>
          </a:p>
        </p:txBody>
      </p:sp>
      <p:sp>
        <p:nvSpPr>
          <p:cNvPr id="13" name="Shape 7"/>
          <p:cNvSpPr/>
          <p:nvPr/>
        </p:nvSpPr>
        <p:spPr>
          <a:xfrm>
            <a:off x="571500" y="2977158"/>
            <a:ext cx="4818766" cy="726877"/>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853678" y="3216473"/>
            <a:ext cx="221456" cy="228600"/>
          </a:xfrm>
          <a:prstGeom prst="rect">
            <a:avLst/>
          </a:prstGeom>
        </p:spPr>
      </p:pic>
      <p:sp>
        <p:nvSpPr>
          <p:cNvPr id="15" name="Text 8"/>
          <p:cNvSpPr/>
          <p:nvPr/>
        </p:nvSpPr>
        <p:spPr>
          <a:xfrm>
            <a:off x="1321594" y="3155752"/>
            <a:ext cx="3620095"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GitHub Actions</a:t>
            </a:r>
            <a:endParaRPr lang="en-US" sz="1100" dirty="0"/>
          </a:p>
        </p:txBody>
      </p:sp>
      <p:sp>
        <p:nvSpPr>
          <p:cNvPr id="16" name="Text 9"/>
          <p:cNvSpPr/>
          <p:nvPr/>
        </p:nvSpPr>
        <p:spPr>
          <a:xfrm>
            <a:off x="1321594" y="3373636"/>
            <a:ext cx="3620095"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CI/CD Orchestration: Builds, tests, and triggers private deployments.</a:t>
            </a:r>
            <a:endParaRPr lang="en-US" sz="850" dirty="0">
              <a:solidFill>
                <a:schemeClr val="bg1"/>
              </a:solidFill>
            </a:endParaRPr>
          </a:p>
        </p:txBody>
      </p:sp>
      <p:sp>
        <p:nvSpPr>
          <p:cNvPr id="17" name="Shape 10"/>
          <p:cNvSpPr/>
          <p:nvPr/>
        </p:nvSpPr>
        <p:spPr>
          <a:xfrm>
            <a:off x="571500" y="3796903"/>
            <a:ext cx="4818766" cy="726877"/>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850106" y="4036219"/>
            <a:ext cx="228600" cy="228600"/>
          </a:xfrm>
          <a:prstGeom prst="rect">
            <a:avLst/>
          </a:prstGeom>
        </p:spPr>
      </p:pic>
      <p:sp>
        <p:nvSpPr>
          <p:cNvPr id="19" name="Text 11"/>
          <p:cNvSpPr/>
          <p:nvPr/>
        </p:nvSpPr>
        <p:spPr>
          <a:xfrm>
            <a:off x="1321594" y="3975497"/>
            <a:ext cx="3291483"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SonarQube</a:t>
            </a:r>
            <a:endParaRPr lang="en-US" sz="1100" dirty="0"/>
          </a:p>
        </p:txBody>
      </p:sp>
      <p:sp>
        <p:nvSpPr>
          <p:cNvPr id="20" name="Text 12"/>
          <p:cNvSpPr/>
          <p:nvPr/>
        </p:nvSpPr>
        <p:spPr>
          <a:xfrm>
            <a:off x="1321594" y="4193381"/>
            <a:ext cx="3291483"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Quality Gate: Automated code analysis and security scanning.</a:t>
            </a:r>
            <a:endParaRPr lang="en-US" sz="850" dirty="0">
              <a:solidFill>
                <a:schemeClr val="bg1"/>
              </a:solidFill>
            </a:endParaRPr>
          </a:p>
        </p:txBody>
      </p:sp>
      <p:sp>
        <p:nvSpPr>
          <p:cNvPr id="21" name="Shape 13"/>
          <p:cNvSpPr/>
          <p:nvPr/>
        </p:nvSpPr>
        <p:spPr>
          <a:xfrm>
            <a:off x="5818891" y="1200150"/>
            <a:ext cx="2753609" cy="3309342"/>
          </a:xfrm>
          <a:prstGeom prst="rect">
            <a:avLst/>
          </a:prstGeom>
          <a:solidFill>
            <a:srgbClr val="00C7BE">
              <a:alpha val="5000"/>
            </a:srgbClr>
          </a:solidFill>
          <a:ln w="9144">
            <a:solidFill>
              <a:srgbClr val="00C7BE">
                <a:alpha val="20000"/>
              </a:srgbClr>
            </a:solidFill>
            <a:prstDash val="solid"/>
          </a:ln>
        </p:spPr>
        <p:txBody>
          <a:bodyPr/>
          <a:lstStyle/>
          <a:p>
            <a:endParaRPr lang="en-US"/>
          </a:p>
        </p:txBody>
      </p:sp>
      <p:sp>
        <p:nvSpPr>
          <p:cNvPr id="22" name="Text 14"/>
          <p:cNvSpPr/>
          <p:nvPr/>
        </p:nvSpPr>
        <p:spPr>
          <a:xfrm>
            <a:off x="6104641" y="1485900"/>
            <a:ext cx="2182109" cy="155377"/>
          </a:xfrm>
          <a:prstGeom prst="rect">
            <a:avLst/>
          </a:prstGeom>
          <a:noFill/>
          <a:ln/>
        </p:spPr>
        <p:txBody>
          <a:bodyPr wrap="square" lIns="0" tIns="0" rIns="0" bIns="0" rtlCol="0" anchor="t">
            <a:spAutoFit/>
          </a:bodyPr>
          <a:lstStyle/>
          <a:p>
            <a:pPr marL="0" indent="0" algn="l">
              <a:buNone/>
            </a:pPr>
            <a:r>
              <a:rPr lang="en-US" sz="900" b="1" kern="0" spc="1" dirty="0">
                <a:solidFill>
                  <a:srgbClr val="00C7BE"/>
                </a:solidFill>
                <a:latin typeface="Inter ExtraBold" pitchFamily="34" charset="0"/>
                <a:ea typeface="Inter ExtraBold" pitchFamily="34" charset="-122"/>
                <a:cs typeface="Inter ExtraBold" pitchFamily="34" charset="-120"/>
              </a:rPr>
              <a:t>EFFICIENCY</a:t>
            </a:r>
            <a:endParaRPr lang="en-US" sz="900" dirty="0"/>
          </a:p>
        </p:txBody>
      </p:sp>
      <p:sp>
        <p:nvSpPr>
          <p:cNvPr id="23" name="Text 15"/>
          <p:cNvSpPr/>
          <p:nvPr/>
        </p:nvSpPr>
        <p:spPr>
          <a:xfrm>
            <a:off x="6104641" y="1698427"/>
            <a:ext cx="2182109" cy="275034"/>
          </a:xfrm>
          <a:prstGeom prst="rect">
            <a:avLst/>
          </a:prstGeom>
          <a:noFill/>
          <a:ln/>
        </p:spPr>
        <p:txBody>
          <a:bodyPr wrap="square" lIns="0" tIns="0" rIns="0" bIns="0" rtlCol="0" anchor="t">
            <a:spAutoFit/>
          </a:bodyPr>
          <a:lstStyle/>
          <a:p>
            <a:pPr marL="0" indent="0" algn="l">
              <a:buNone/>
            </a:pPr>
            <a:r>
              <a:rPr lang="en-US" sz="850" dirty="0">
                <a:solidFill>
                  <a:srgbClr val="FFFFFF"/>
                </a:solidFill>
                <a:latin typeface="Inter Light" pitchFamily="34" charset="0"/>
                <a:ea typeface="Inter Light" pitchFamily="34" charset="-122"/>
                <a:cs typeface="Inter Light" pitchFamily="34" charset="-120"/>
              </a:rPr>
              <a:t>Faster releases with zero manual intervention.</a:t>
            </a:r>
            <a:endParaRPr lang="en-US" sz="850" dirty="0"/>
          </a:p>
        </p:txBody>
      </p:sp>
      <p:sp>
        <p:nvSpPr>
          <p:cNvPr id="24" name="Text 16"/>
          <p:cNvSpPr/>
          <p:nvPr/>
        </p:nvSpPr>
        <p:spPr>
          <a:xfrm>
            <a:off x="6104641" y="2187773"/>
            <a:ext cx="2182109" cy="155377"/>
          </a:xfrm>
          <a:prstGeom prst="rect">
            <a:avLst/>
          </a:prstGeom>
          <a:noFill/>
          <a:ln/>
        </p:spPr>
        <p:txBody>
          <a:bodyPr wrap="square" lIns="0" tIns="0" rIns="0" bIns="0" rtlCol="0" anchor="t">
            <a:spAutoFit/>
          </a:bodyPr>
          <a:lstStyle/>
          <a:p>
            <a:pPr marL="0" indent="0" algn="l">
              <a:buNone/>
            </a:pPr>
            <a:r>
              <a:rPr lang="en-US" sz="900" b="1" kern="0" spc="1" dirty="0">
                <a:solidFill>
                  <a:srgbClr val="00C7BE"/>
                </a:solidFill>
                <a:latin typeface="Inter ExtraBold" pitchFamily="34" charset="0"/>
                <a:ea typeface="Inter ExtraBold" pitchFamily="34" charset="-122"/>
                <a:cs typeface="Inter ExtraBold" pitchFamily="34" charset="-120"/>
              </a:rPr>
              <a:t>RELIABILITY</a:t>
            </a:r>
            <a:endParaRPr lang="en-US" sz="900" dirty="0"/>
          </a:p>
        </p:txBody>
      </p:sp>
      <p:sp>
        <p:nvSpPr>
          <p:cNvPr id="25" name="Text 17"/>
          <p:cNvSpPr/>
          <p:nvPr/>
        </p:nvSpPr>
        <p:spPr>
          <a:xfrm>
            <a:off x="6104641" y="2400300"/>
            <a:ext cx="2182109" cy="275034"/>
          </a:xfrm>
          <a:prstGeom prst="rect">
            <a:avLst/>
          </a:prstGeom>
          <a:noFill/>
          <a:ln/>
        </p:spPr>
        <p:txBody>
          <a:bodyPr wrap="square" lIns="0" tIns="0" rIns="0" bIns="0" rtlCol="0" anchor="t">
            <a:spAutoFit/>
          </a:bodyPr>
          <a:lstStyle/>
          <a:p>
            <a:pPr marL="0" indent="0" algn="l">
              <a:buNone/>
            </a:pPr>
            <a:r>
              <a:rPr lang="en-US" sz="850" dirty="0">
                <a:solidFill>
                  <a:srgbClr val="FFFFFF"/>
                </a:solidFill>
                <a:latin typeface="Inter Light" pitchFamily="34" charset="0"/>
                <a:ea typeface="Inter Light" pitchFamily="34" charset="-122"/>
                <a:cs typeface="Inter Light" pitchFamily="34" charset="-120"/>
              </a:rPr>
              <a:t>Predictable deployments across all environments.</a:t>
            </a:r>
            <a:endParaRPr lang="en-US" sz="850" dirty="0"/>
          </a:p>
        </p:txBody>
      </p:sp>
      <p:sp>
        <p:nvSpPr>
          <p:cNvPr id="26" name="Text 18"/>
          <p:cNvSpPr/>
          <p:nvPr/>
        </p:nvSpPr>
        <p:spPr>
          <a:xfrm>
            <a:off x="6104641" y="2889647"/>
            <a:ext cx="2182109" cy="155377"/>
          </a:xfrm>
          <a:prstGeom prst="rect">
            <a:avLst/>
          </a:prstGeom>
          <a:noFill/>
          <a:ln/>
        </p:spPr>
        <p:txBody>
          <a:bodyPr wrap="square" lIns="0" tIns="0" rIns="0" bIns="0" rtlCol="0" anchor="t">
            <a:spAutoFit/>
          </a:bodyPr>
          <a:lstStyle/>
          <a:p>
            <a:pPr marL="0" indent="0" algn="l">
              <a:buNone/>
            </a:pPr>
            <a:r>
              <a:rPr lang="en-US" sz="900" b="1" kern="0" spc="1" dirty="0">
                <a:solidFill>
                  <a:srgbClr val="00C7BE"/>
                </a:solidFill>
                <a:latin typeface="Inter ExtraBold" pitchFamily="34" charset="0"/>
                <a:ea typeface="Inter ExtraBold" pitchFamily="34" charset="-122"/>
                <a:cs typeface="Inter ExtraBold" pitchFamily="34" charset="-120"/>
              </a:rPr>
              <a:t>CONSISTENCY</a:t>
            </a:r>
            <a:endParaRPr lang="en-US" sz="900" dirty="0"/>
          </a:p>
        </p:txBody>
      </p:sp>
      <p:sp>
        <p:nvSpPr>
          <p:cNvPr id="27" name="Text 19"/>
          <p:cNvSpPr/>
          <p:nvPr/>
        </p:nvSpPr>
        <p:spPr>
          <a:xfrm>
            <a:off x="6104641" y="3102173"/>
            <a:ext cx="2182109" cy="275034"/>
          </a:xfrm>
          <a:prstGeom prst="rect">
            <a:avLst/>
          </a:prstGeom>
          <a:noFill/>
          <a:ln/>
        </p:spPr>
        <p:txBody>
          <a:bodyPr wrap="square" lIns="0" tIns="0" rIns="0" bIns="0" rtlCol="0" anchor="t">
            <a:spAutoFit/>
          </a:bodyPr>
          <a:lstStyle/>
          <a:p>
            <a:pPr marL="0" indent="0" algn="l">
              <a:buNone/>
            </a:pPr>
            <a:r>
              <a:rPr lang="en-US" sz="850" dirty="0">
                <a:solidFill>
                  <a:srgbClr val="FFFFFF"/>
                </a:solidFill>
                <a:latin typeface="Inter Light" pitchFamily="34" charset="0"/>
                <a:ea typeface="Inter Light" pitchFamily="34" charset="-122"/>
                <a:cs typeface="Inter Light" pitchFamily="34" charset="-120"/>
              </a:rPr>
              <a:t>Eliminates "it works on my machine" syndrome.</a:t>
            </a:r>
            <a:endParaRPr lang="en-US" sz="850" dirty="0"/>
          </a:p>
        </p:txBody>
      </p:sp>
      <p:sp>
        <p:nvSpPr>
          <p:cNvPr id="28" name="Text 20"/>
          <p:cNvSpPr/>
          <p:nvPr/>
        </p:nvSpPr>
        <p:spPr>
          <a:xfrm>
            <a:off x="0" y="4509492"/>
            <a:ext cx="9144000" cy="833305"/>
          </a:xfrm>
          <a:prstGeom prst="rect">
            <a:avLst/>
          </a:prstGeom>
          <a:noFill/>
          <a:ln/>
        </p:spPr>
        <p:txBody>
          <a:bodyPr wrap="square" lIns="680339" tIns="340233" rIns="0" bIns="340233" rtlCol="0" anchor="t">
            <a:spAutoFit/>
          </a:bodyPr>
          <a:lstStyle/>
          <a:p>
            <a:pPr marL="0" indent="0" algn="l">
              <a:buNone/>
            </a:pPr>
            <a:r>
              <a:rPr lang="en-US" sz="950" i="1" dirty="0">
                <a:solidFill>
                  <a:schemeClr val="bg1"/>
                </a:solidFill>
                <a:latin typeface="Inter Light" pitchFamily="34" charset="0"/>
                <a:ea typeface="Inter Light" pitchFamily="34" charset="-122"/>
                <a:cs typeface="Inter Light" pitchFamily="34" charset="-120"/>
              </a:rPr>
              <a:t>Self-hosted runners ensure deployment happens securely within the private network.</a:t>
            </a:r>
            <a:endParaRPr lang="en-US" sz="950" dirty="0">
              <a:solidFill>
                <a:schemeClr val="bg1"/>
              </a:solidFill>
            </a:endParaRPr>
          </a:p>
        </p:txBody>
      </p:sp>
      <p:pic>
        <p:nvPicPr>
          <p:cNvPr id="29" name="Picture 28" descr="idda_en_clean2.png"/>
          <p:cNvPicPr>
            <a:picLocks noChangeAspect="1"/>
          </p:cNvPicPr>
          <p:nvPr/>
        </p:nvPicPr>
        <p:blipFill>
          <a:blip r:embed="rId8"/>
          <a:stretch>
            <a:fillRect/>
          </a:stretch>
        </p:blipFill>
        <p:spPr>
          <a:xfrm>
            <a:off x="274320" y="182880"/>
            <a:ext cx="1280160" cy="843999"/>
          </a:xfrm>
          <a:prstGeom prst="rect">
            <a:avLst/>
          </a:prstGeom>
        </p:spPr>
      </p:pic>
      <p:pic>
        <p:nvPicPr>
          <p:cNvPr id="30" name="Picture 29" descr="ironhack.png"/>
          <p:cNvPicPr>
            <a:picLocks noChangeAspect="1"/>
          </p:cNvPicPr>
          <p:nvPr/>
        </p:nvPicPr>
        <p:blipFill>
          <a:blip r:embed="rId9"/>
          <a:stretch>
            <a:fillRect/>
          </a:stretch>
        </p:blipFill>
        <p:spPr>
          <a:xfrm>
            <a:off x="7772400" y="182880"/>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 y="2124"/>
            <a:ext cx="9144000" cy="5177433"/>
          </a:xfrm>
          <a:prstGeom prst="rect">
            <a:avLst/>
          </a:prstGeom>
        </p:spPr>
      </p:pic>
      <p:sp>
        <p:nvSpPr>
          <p:cNvPr id="4" name="Text 0"/>
          <p:cNvSpPr/>
          <p:nvPr/>
        </p:nvSpPr>
        <p:spPr>
          <a:xfrm>
            <a:off x="1679565" y="448649"/>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Security: Reducing Risk by Design</a:t>
            </a:r>
            <a:endParaRPr lang="en-US" sz="2450" dirty="0"/>
          </a:p>
        </p:txBody>
      </p:sp>
      <p:sp>
        <p:nvSpPr>
          <p:cNvPr id="5" name="Text 1"/>
          <p:cNvSpPr/>
          <p:nvPr/>
        </p:nvSpPr>
        <p:spPr>
          <a:xfrm>
            <a:off x="914400" y="1227709"/>
            <a:ext cx="8572500" cy="207169"/>
          </a:xfrm>
          <a:prstGeom prst="rect">
            <a:avLst/>
          </a:prstGeom>
          <a:noFill/>
          <a:ln/>
        </p:spPr>
        <p:txBody>
          <a:bodyPr wrap="square" lIns="0" tIns="0" rIns="0" bIns="0" rtlCol="0" anchor="t">
            <a:spAutoFit/>
          </a:bodyPr>
          <a:lstStyle/>
          <a:p>
            <a:pPr marL="0" indent="0" algn="l">
              <a:buNone/>
            </a:pPr>
            <a:r>
              <a:rPr lang="en-US" sz="1250" dirty="0">
                <a:solidFill>
                  <a:srgbClr val="00C7BE"/>
                </a:solidFill>
                <a:latin typeface="Inter Light" pitchFamily="34" charset="0"/>
                <a:ea typeface="Inter Light" pitchFamily="34" charset="-122"/>
                <a:cs typeface="Inter Light" pitchFamily="34" charset="-120"/>
              </a:rPr>
              <a:t>Security is built into the architecture, not added at the end.</a:t>
            </a:r>
            <a:endParaRPr lang="en-US" sz="1250" dirty="0"/>
          </a:p>
        </p:txBody>
      </p:sp>
      <p:sp>
        <p:nvSpPr>
          <p:cNvPr id="6" name="Shape 2"/>
          <p:cNvSpPr/>
          <p:nvPr/>
        </p:nvSpPr>
        <p:spPr>
          <a:xfrm>
            <a:off x="571500" y="1550194"/>
            <a:ext cx="8001000" cy="3000375"/>
          </a:xfrm>
          <a:prstGeom prst="rect">
            <a:avLst/>
          </a:prstGeom>
          <a:solidFill>
            <a:srgbClr val="FFFFFF">
              <a:alpha val="3000"/>
            </a:srgbClr>
          </a:solidFill>
          <a:ln w="9144">
            <a:solidFill>
              <a:srgbClr val="00C7BE">
                <a:alpha val="30000"/>
              </a:srgbClr>
            </a:solidFill>
            <a:prstDash val="solid"/>
          </a:ln>
        </p:spPr>
        <p:txBody>
          <a:bodyPr/>
          <a:lstStyle/>
          <a:p>
            <a:endParaRPr lang="en-US"/>
          </a:p>
        </p:txBody>
      </p:sp>
      <p:sp>
        <p:nvSpPr>
          <p:cNvPr id="7" name="Text 3"/>
          <p:cNvSpPr/>
          <p:nvPr/>
        </p:nvSpPr>
        <p:spPr>
          <a:xfrm>
            <a:off x="1357313" y="1935956"/>
            <a:ext cx="3214688"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Edge Protection</a:t>
            </a:r>
            <a:endParaRPr lang="en-US" sz="1100" dirty="0"/>
          </a:p>
        </p:txBody>
      </p:sp>
      <p:sp>
        <p:nvSpPr>
          <p:cNvPr id="8" name="Text 4"/>
          <p:cNvSpPr/>
          <p:nvPr/>
        </p:nvSpPr>
        <p:spPr>
          <a:xfrm>
            <a:off x="1357313" y="2153841"/>
            <a:ext cx="3214688"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Azure Application Gateway WAF v2 serves as the only public entry point, filtering malicious traffic.</a:t>
            </a:r>
            <a:endParaRPr lang="en-US" sz="850" dirty="0">
              <a:solidFill>
                <a:schemeClr val="bg1"/>
              </a:solidFill>
            </a:endParaRPr>
          </a:p>
        </p:txBody>
      </p:sp>
      <p:pic>
        <p:nvPicPr>
          <p:cNvPr id="9" name="Image 1" descr="preencoded.png"/>
          <p:cNvPicPr>
            <a:picLocks noChangeAspect="1"/>
          </p:cNvPicPr>
          <p:nvPr/>
        </p:nvPicPr>
        <p:blipFill>
          <a:blip r:embed="rId4"/>
          <a:stretch>
            <a:fillRect/>
          </a:stretch>
        </p:blipFill>
        <p:spPr>
          <a:xfrm>
            <a:off x="1000125" y="2762845"/>
            <a:ext cx="214313" cy="171450"/>
          </a:xfrm>
          <a:prstGeom prst="rect">
            <a:avLst/>
          </a:prstGeom>
        </p:spPr>
      </p:pic>
      <p:sp>
        <p:nvSpPr>
          <p:cNvPr id="10" name="Text 5"/>
          <p:cNvSpPr/>
          <p:nvPr/>
        </p:nvSpPr>
        <p:spPr>
          <a:xfrm>
            <a:off x="1357313" y="2711053"/>
            <a:ext cx="3000375"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Private Infrastructure</a:t>
            </a:r>
            <a:endParaRPr lang="en-US" sz="1100" dirty="0"/>
          </a:p>
        </p:txBody>
      </p:sp>
      <p:sp>
        <p:nvSpPr>
          <p:cNvPr id="11" name="Text 6"/>
          <p:cNvSpPr/>
          <p:nvPr/>
        </p:nvSpPr>
        <p:spPr>
          <a:xfrm>
            <a:off x="1357313" y="2957513"/>
            <a:ext cx="3000375"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Virtual machines have no public IPs. All internal communication stays within a private VNet.</a:t>
            </a:r>
            <a:endParaRPr lang="en-US" sz="850" dirty="0">
              <a:solidFill>
                <a:schemeClr val="bg1"/>
              </a:solidFill>
            </a:endParaRPr>
          </a:p>
        </p:txBody>
      </p:sp>
      <p:pic>
        <p:nvPicPr>
          <p:cNvPr id="12" name="Image 2" descr="preencoded.png"/>
          <p:cNvPicPr>
            <a:picLocks noChangeAspect="1"/>
          </p:cNvPicPr>
          <p:nvPr/>
        </p:nvPicPr>
        <p:blipFill>
          <a:blip r:embed="rId5"/>
          <a:stretch>
            <a:fillRect/>
          </a:stretch>
        </p:blipFill>
        <p:spPr>
          <a:xfrm>
            <a:off x="4786313" y="1959173"/>
            <a:ext cx="171450" cy="171450"/>
          </a:xfrm>
          <a:prstGeom prst="rect">
            <a:avLst/>
          </a:prstGeom>
        </p:spPr>
      </p:pic>
      <p:sp>
        <p:nvSpPr>
          <p:cNvPr id="13" name="Text 7"/>
          <p:cNvSpPr/>
          <p:nvPr/>
        </p:nvSpPr>
        <p:spPr>
          <a:xfrm>
            <a:off x="5100638" y="1907381"/>
            <a:ext cx="3043238"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Zero-Trust Access</a:t>
            </a:r>
            <a:endParaRPr lang="en-US" sz="1100" dirty="0"/>
          </a:p>
        </p:txBody>
      </p:sp>
      <p:sp>
        <p:nvSpPr>
          <p:cNvPr id="14" name="Text 8"/>
          <p:cNvSpPr/>
          <p:nvPr/>
        </p:nvSpPr>
        <p:spPr>
          <a:xfrm>
            <a:off x="5100638" y="2153841"/>
            <a:ext cx="3043238"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Private Endpoints protect Azure SQL and Key Vault. Secrets are never hardcoded in the application.</a:t>
            </a:r>
            <a:endParaRPr lang="en-US" sz="850" dirty="0">
              <a:solidFill>
                <a:schemeClr val="bg1"/>
              </a:solidFill>
            </a:endParaRPr>
          </a:p>
        </p:txBody>
      </p:sp>
      <p:pic>
        <p:nvPicPr>
          <p:cNvPr id="15" name="Image 3" descr="preencoded.png"/>
          <p:cNvPicPr>
            <a:picLocks noChangeAspect="1"/>
          </p:cNvPicPr>
          <p:nvPr/>
        </p:nvPicPr>
        <p:blipFill>
          <a:blip r:embed="rId6"/>
          <a:stretch>
            <a:fillRect/>
          </a:stretch>
        </p:blipFill>
        <p:spPr>
          <a:xfrm>
            <a:off x="4786313" y="2762845"/>
            <a:ext cx="171450" cy="171450"/>
          </a:xfrm>
          <a:prstGeom prst="rect">
            <a:avLst/>
          </a:prstGeom>
        </p:spPr>
      </p:pic>
      <p:sp>
        <p:nvSpPr>
          <p:cNvPr id="16" name="Text 9"/>
          <p:cNvSpPr/>
          <p:nvPr/>
        </p:nvSpPr>
        <p:spPr>
          <a:xfrm>
            <a:off x="5100638" y="2711053"/>
            <a:ext cx="3043238"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Trusted Identity</a:t>
            </a:r>
            <a:endParaRPr lang="en-US" sz="1100" dirty="0"/>
          </a:p>
        </p:txBody>
      </p:sp>
      <p:sp>
        <p:nvSpPr>
          <p:cNvPr id="17" name="Text 10"/>
          <p:cNvSpPr/>
          <p:nvPr/>
        </p:nvSpPr>
        <p:spPr>
          <a:xfrm>
            <a:off x="5100638" y="2957513"/>
            <a:ext cx="3043238"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End-to-end encryption using trusted Let's Encrypt certificates for a professional deployment model.</a:t>
            </a:r>
            <a:endParaRPr lang="en-US" sz="850" dirty="0">
              <a:solidFill>
                <a:schemeClr val="bg1"/>
              </a:solidFill>
            </a:endParaRPr>
          </a:p>
        </p:txBody>
      </p:sp>
      <p:sp>
        <p:nvSpPr>
          <p:cNvPr id="18" name="Shape 11"/>
          <p:cNvSpPr/>
          <p:nvPr/>
        </p:nvSpPr>
        <p:spPr>
          <a:xfrm>
            <a:off x="1101140" y="3709369"/>
            <a:ext cx="1360884" cy="341114"/>
          </a:xfrm>
          <a:prstGeom prst="roundRect">
            <a:avLst/>
          </a:prstGeom>
          <a:solidFill>
            <a:srgbClr val="00C7BE">
              <a:alpha val="10000"/>
            </a:srgbClr>
          </a:solidFill>
          <a:ln w="9144">
            <a:solidFill>
              <a:srgbClr val="00C7BE">
                <a:alpha val="20000"/>
              </a:srgbClr>
            </a:solidFill>
            <a:prstDash val="solid"/>
          </a:ln>
        </p:spPr>
        <p:txBody>
          <a:bodyPr/>
          <a:lstStyle/>
          <a:p>
            <a:endParaRPr lang="en-US"/>
          </a:p>
        </p:txBody>
      </p:sp>
      <p:sp>
        <p:nvSpPr>
          <p:cNvPr id="19" name="Text 12"/>
          <p:cNvSpPr/>
          <p:nvPr/>
        </p:nvSpPr>
        <p:spPr>
          <a:xfrm>
            <a:off x="1214438" y="3706951"/>
            <a:ext cx="1360884" cy="341114"/>
          </a:xfrm>
          <a:prstGeom prst="rect">
            <a:avLst/>
          </a:prstGeom>
          <a:noFill/>
          <a:ln/>
        </p:spPr>
        <p:txBody>
          <a:bodyPr wrap="square" lIns="204089" tIns="102108" rIns="204089" bIns="102108" rtlCol="0" anchor="t">
            <a:spAutoFit/>
          </a:bodyPr>
          <a:lstStyle/>
          <a:p>
            <a:pPr marL="0" indent="0" algn="l">
              <a:buNone/>
            </a:pPr>
            <a:r>
              <a:rPr lang="en-US" sz="900" b="1" dirty="0">
                <a:solidFill>
                  <a:srgbClr val="00C7BE"/>
                </a:solidFill>
                <a:latin typeface="Inter ExtraBold" pitchFamily="34" charset="0"/>
                <a:ea typeface="Inter ExtraBold" pitchFamily="34" charset="-122"/>
                <a:cs typeface="Inter ExtraBold" pitchFamily="34" charset="-120"/>
              </a:rPr>
              <a:t>Enhanced Trust</a:t>
            </a:r>
            <a:endParaRPr lang="en-US" sz="900" dirty="0"/>
          </a:p>
        </p:txBody>
      </p:sp>
      <p:sp>
        <p:nvSpPr>
          <p:cNvPr id="20" name="Shape 13"/>
          <p:cNvSpPr/>
          <p:nvPr/>
        </p:nvSpPr>
        <p:spPr>
          <a:xfrm>
            <a:off x="3665078" y="3735224"/>
            <a:ext cx="1468041" cy="341114"/>
          </a:xfrm>
          <a:prstGeom prst="roundRect">
            <a:avLst/>
          </a:prstGeom>
          <a:solidFill>
            <a:srgbClr val="00C7BE">
              <a:alpha val="10000"/>
            </a:srgbClr>
          </a:solidFill>
          <a:ln w="9144">
            <a:solidFill>
              <a:srgbClr val="00C7BE">
                <a:alpha val="20000"/>
              </a:srgbClr>
            </a:solidFill>
            <a:prstDash val="solid"/>
          </a:ln>
        </p:spPr>
        <p:txBody>
          <a:bodyPr/>
          <a:lstStyle/>
          <a:p>
            <a:endParaRPr lang="en-US" dirty="0"/>
          </a:p>
        </p:txBody>
      </p:sp>
      <p:sp>
        <p:nvSpPr>
          <p:cNvPr id="21" name="Text 14"/>
          <p:cNvSpPr/>
          <p:nvPr/>
        </p:nvSpPr>
        <p:spPr>
          <a:xfrm>
            <a:off x="3782504" y="3728656"/>
            <a:ext cx="1468041" cy="341114"/>
          </a:xfrm>
          <a:prstGeom prst="rect">
            <a:avLst/>
          </a:prstGeom>
          <a:noFill/>
          <a:ln/>
        </p:spPr>
        <p:txBody>
          <a:bodyPr wrap="square" lIns="204089" tIns="102108" rIns="204089" bIns="102108" rtlCol="0" anchor="t">
            <a:spAutoFit/>
          </a:bodyPr>
          <a:lstStyle/>
          <a:p>
            <a:pPr marL="0" indent="0" algn="l">
              <a:buNone/>
            </a:pPr>
            <a:r>
              <a:rPr lang="en-US" sz="900" b="1" dirty="0">
                <a:solidFill>
                  <a:srgbClr val="00C7BE"/>
                </a:solidFill>
                <a:latin typeface="Inter ExtraBold" pitchFamily="34" charset="0"/>
                <a:ea typeface="Inter ExtraBold" pitchFamily="34" charset="-122"/>
                <a:cs typeface="Inter ExtraBold" pitchFamily="34" charset="-120"/>
              </a:rPr>
              <a:t>Safe Data Access</a:t>
            </a:r>
            <a:endParaRPr lang="en-US" sz="900" dirty="0"/>
          </a:p>
        </p:txBody>
      </p:sp>
      <p:sp>
        <p:nvSpPr>
          <p:cNvPr id="22" name="Shape 15"/>
          <p:cNvSpPr/>
          <p:nvPr/>
        </p:nvSpPr>
        <p:spPr>
          <a:xfrm>
            <a:off x="5965815" y="3706951"/>
            <a:ext cx="2077045" cy="341114"/>
          </a:xfrm>
          <a:prstGeom prst="roundRect">
            <a:avLst/>
          </a:prstGeom>
          <a:solidFill>
            <a:srgbClr val="00C7BE">
              <a:alpha val="10000"/>
            </a:srgbClr>
          </a:solidFill>
          <a:ln w="9144">
            <a:solidFill>
              <a:srgbClr val="00C7BE">
                <a:alpha val="20000"/>
              </a:srgbClr>
            </a:solidFill>
            <a:prstDash val="solid"/>
          </a:ln>
        </p:spPr>
        <p:txBody>
          <a:bodyPr/>
          <a:lstStyle/>
          <a:p>
            <a:endParaRPr lang="en-US"/>
          </a:p>
        </p:txBody>
      </p:sp>
      <p:sp>
        <p:nvSpPr>
          <p:cNvPr id="23" name="Text 16"/>
          <p:cNvSpPr/>
          <p:nvPr/>
        </p:nvSpPr>
        <p:spPr>
          <a:xfrm>
            <a:off x="6191002" y="3705607"/>
            <a:ext cx="2077045" cy="341114"/>
          </a:xfrm>
          <a:prstGeom prst="rect">
            <a:avLst/>
          </a:prstGeom>
          <a:noFill/>
          <a:ln/>
        </p:spPr>
        <p:txBody>
          <a:bodyPr wrap="square" lIns="204089" tIns="102108" rIns="204089" bIns="102108" rtlCol="0" anchor="t">
            <a:spAutoFit/>
          </a:bodyPr>
          <a:lstStyle/>
          <a:p>
            <a:pPr marL="0" indent="0" algn="l">
              <a:buNone/>
            </a:pPr>
            <a:r>
              <a:rPr lang="en-US" sz="900" b="1" dirty="0">
                <a:solidFill>
                  <a:srgbClr val="00C7BE"/>
                </a:solidFill>
                <a:latin typeface="Inter ExtraBold" pitchFamily="34" charset="0"/>
                <a:ea typeface="Inter ExtraBold" pitchFamily="34" charset="-122"/>
                <a:cs typeface="Inter ExtraBold" pitchFamily="34" charset="-120"/>
              </a:rPr>
              <a:t>Production-Grade Security</a:t>
            </a:r>
            <a:endParaRPr lang="en-US" sz="900" dirty="0"/>
          </a:p>
        </p:txBody>
      </p:sp>
      <p:pic>
        <p:nvPicPr>
          <p:cNvPr id="2" name="Image 3" descr="preencoded.png">
            <a:extLst>
              <a:ext uri="{FF2B5EF4-FFF2-40B4-BE49-F238E27FC236}">
                <a16:creationId xmlns:a16="http://schemas.microsoft.com/office/drawing/2014/main" id="{C8B961E9-1350-2FB4-9EB3-D2DC26BF6A2B}"/>
              </a:ext>
            </a:extLst>
          </p:cNvPr>
          <p:cNvPicPr>
            <a:picLocks noChangeAspect="1"/>
          </p:cNvPicPr>
          <p:nvPr/>
        </p:nvPicPr>
        <p:blipFill>
          <a:blip r:embed="rId6"/>
          <a:stretch>
            <a:fillRect/>
          </a:stretch>
        </p:blipFill>
        <p:spPr>
          <a:xfrm>
            <a:off x="1015415" y="1925240"/>
            <a:ext cx="171450" cy="171450"/>
          </a:xfrm>
          <a:prstGeom prst="rect">
            <a:avLst/>
          </a:prstGeom>
        </p:spPr>
      </p:pic>
      <p:pic>
        <p:nvPicPr>
          <p:cNvPr id="24" name="Picture 23" descr="idda_en_clean2.png"/>
          <p:cNvPicPr>
            <a:picLocks noChangeAspect="1"/>
          </p:cNvPicPr>
          <p:nvPr/>
        </p:nvPicPr>
        <p:blipFill>
          <a:blip r:embed="rId7"/>
          <a:stretch>
            <a:fillRect/>
          </a:stretch>
        </p:blipFill>
        <p:spPr>
          <a:xfrm>
            <a:off x="274320" y="182880"/>
            <a:ext cx="1280160" cy="843999"/>
          </a:xfrm>
          <a:prstGeom prst="rect">
            <a:avLst/>
          </a:prstGeom>
        </p:spPr>
      </p:pic>
      <p:pic>
        <p:nvPicPr>
          <p:cNvPr id="25" name="Picture 24" descr="ironhack.png"/>
          <p:cNvPicPr>
            <a:picLocks noChangeAspect="1"/>
          </p:cNvPicPr>
          <p:nvPr/>
        </p:nvPicPr>
        <p:blipFill>
          <a:blip r:embed="rId8"/>
          <a:stretch>
            <a:fillRect/>
          </a:stretch>
        </p:blipFill>
        <p:spPr>
          <a:xfrm>
            <a:off x="7772400" y="182880"/>
            <a:ext cx="914400"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890415" y="448700"/>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Finding Problems Before Users Do</a:t>
            </a:r>
            <a:endParaRPr lang="en-US" sz="2450" dirty="0"/>
          </a:p>
        </p:txBody>
      </p:sp>
      <p:sp>
        <p:nvSpPr>
          <p:cNvPr id="5" name="Shape 1"/>
          <p:cNvSpPr/>
          <p:nvPr/>
        </p:nvSpPr>
        <p:spPr>
          <a:xfrm>
            <a:off x="571500" y="1173361"/>
            <a:ext cx="3857625" cy="2857500"/>
          </a:xfrm>
          <a:prstGeom prst="rect">
            <a:avLst/>
          </a:prstGeom>
          <a:solidFill>
            <a:srgbClr val="000000">
              <a:alpha val="0"/>
            </a:srgbClr>
          </a:solidFill>
          <a:ln w="9144">
            <a:solidFill>
              <a:srgbClr val="00C7BE">
                <a:alpha val="3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571500" y="1173361"/>
            <a:ext cx="3857625" cy="2857500"/>
          </a:xfrm>
          <a:prstGeom prst="rect">
            <a:avLst/>
          </a:prstGeom>
        </p:spPr>
      </p:pic>
      <p:sp>
        <p:nvSpPr>
          <p:cNvPr id="7" name="Shape 2"/>
          <p:cNvSpPr/>
          <p:nvPr/>
        </p:nvSpPr>
        <p:spPr>
          <a:xfrm>
            <a:off x="4857750" y="1128713"/>
            <a:ext cx="3714750" cy="1034058"/>
          </a:xfrm>
          <a:prstGeom prst="rect">
            <a:avLst/>
          </a:prstGeom>
          <a:solidFill>
            <a:srgbClr val="FFFFFF">
              <a:alpha val="3000"/>
            </a:srgbClr>
          </a:solidFill>
          <a:ln w="9144">
            <a:solidFill>
              <a:srgbClr val="FFFFFF">
                <a:alpha val="10000"/>
              </a:srgbClr>
            </a:solidFill>
            <a:prstDash val="solid"/>
          </a:ln>
        </p:spPr>
        <p:txBody>
          <a:bodyPr/>
          <a:lstStyle/>
          <a:p>
            <a:endParaRPr lang="en-US" dirty="0"/>
          </a:p>
        </p:txBody>
      </p:sp>
      <p:pic>
        <p:nvPicPr>
          <p:cNvPr id="8" name="Image 2" descr="preencoded.png"/>
          <p:cNvPicPr>
            <a:picLocks noChangeAspect="1"/>
          </p:cNvPicPr>
          <p:nvPr/>
        </p:nvPicPr>
        <p:blipFill>
          <a:blip r:embed="rId5"/>
          <a:stretch>
            <a:fillRect/>
          </a:stretch>
        </p:blipFill>
        <p:spPr>
          <a:xfrm>
            <a:off x="5036344" y="1322487"/>
            <a:ext cx="150019" cy="142875"/>
          </a:xfrm>
          <a:prstGeom prst="rect">
            <a:avLst/>
          </a:prstGeom>
        </p:spPr>
      </p:pic>
      <p:sp>
        <p:nvSpPr>
          <p:cNvPr id="9" name="Text 3"/>
          <p:cNvSpPr/>
          <p:nvPr/>
        </p:nvSpPr>
        <p:spPr>
          <a:xfrm>
            <a:off x="5272088" y="1307306"/>
            <a:ext cx="1809155" cy="173236"/>
          </a:xfrm>
          <a:prstGeom prst="rect">
            <a:avLst/>
          </a:prstGeom>
          <a:noFill/>
          <a:ln/>
        </p:spPr>
        <p:txBody>
          <a:bodyPr wrap="square" lIns="0" tIns="0" rIns="0" bIns="0" rtlCol="0" anchor="t">
            <a:spAutoFit/>
          </a:bodyPr>
          <a:lstStyle/>
          <a:p>
            <a:pPr marL="0" indent="0" algn="l">
              <a:buNone/>
            </a:pPr>
            <a:r>
              <a:rPr lang="en-US" sz="1000" b="1" kern="0" spc="1" dirty="0">
                <a:solidFill>
                  <a:srgbClr val="00C7BE"/>
                </a:solidFill>
                <a:latin typeface="Inter ExtraBold" pitchFamily="34" charset="0"/>
                <a:ea typeface="Inter ExtraBold" pitchFamily="34" charset="-122"/>
                <a:cs typeface="Inter ExtraBold" pitchFamily="34" charset="-120"/>
              </a:rPr>
              <a:t>OBSERVABILITY STACK</a:t>
            </a:r>
            <a:endParaRPr lang="en-US" sz="1000" dirty="0"/>
          </a:p>
        </p:txBody>
      </p:sp>
      <p:pic>
        <p:nvPicPr>
          <p:cNvPr id="10" name="Image 3" descr="preencoded.png"/>
          <p:cNvPicPr>
            <a:picLocks noChangeAspect="1"/>
          </p:cNvPicPr>
          <p:nvPr/>
        </p:nvPicPr>
        <p:blipFill>
          <a:blip r:embed="rId6"/>
          <a:stretch>
            <a:fillRect/>
          </a:stretch>
        </p:blipFill>
        <p:spPr>
          <a:xfrm>
            <a:off x="5036344" y="1613595"/>
            <a:ext cx="85725" cy="85725"/>
          </a:xfrm>
          <a:prstGeom prst="rect">
            <a:avLst/>
          </a:prstGeom>
        </p:spPr>
      </p:pic>
      <p:sp>
        <p:nvSpPr>
          <p:cNvPr id="11" name="Text 4"/>
          <p:cNvSpPr/>
          <p:nvPr/>
        </p:nvSpPr>
        <p:spPr>
          <a:xfrm>
            <a:off x="5193506" y="1587698"/>
            <a:ext cx="647613"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Azure Monitor</a:t>
            </a:r>
            <a:endParaRPr lang="en-US" sz="850" dirty="0">
              <a:solidFill>
                <a:schemeClr val="bg1"/>
              </a:solidFill>
            </a:endParaRPr>
          </a:p>
        </p:txBody>
      </p:sp>
      <p:pic>
        <p:nvPicPr>
          <p:cNvPr id="12" name="Image 4" descr="preencoded.png"/>
          <p:cNvPicPr>
            <a:picLocks noChangeAspect="1"/>
          </p:cNvPicPr>
          <p:nvPr/>
        </p:nvPicPr>
        <p:blipFill>
          <a:blip r:embed="rId7"/>
          <a:stretch>
            <a:fillRect/>
          </a:stretch>
        </p:blipFill>
        <p:spPr>
          <a:xfrm>
            <a:off x="6768703" y="1613595"/>
            <a:ext cx="85725" cy="85725"/>
          </a:xfrm>
          <a:prstGeom prst="rect">
            <a:avLst/>
          </a:prstGeom>
        </p:spPr>
      </p:pic>
      <p:sp>
        <p:nvSpPr>
          <p:cNvPr id="13" name="Text 5"/>
          <p:cNvSpPr/>
          <p:nvPr/>
        </p:nvSpPr>
        <p:spPr>
          <a:xfrm>
            <a:off x="6925866" y="1587698"/>
            <a:ext cx="87363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Application Insights</a:t>
            </a:r>
            <a:endParaRPr lang="en-US" sz="850" dirty="0">
              <a:solidFill>
                <a:schemeClr val="bg1"/>
              </a:solidFill>
            </a:endParaRPr>
          </a:p>
        </p:txBody>
      </p:sp>
      <p:pic>
        <p:nvPicPr>
          <p:cNvPr id="14" name="Image 5" descr="preencoded.png"/>
          <p:cNvPicPr>
            <a:picLocks noChangeAspect="1"/>
          </p:cNvPicPr>
          <p:nvPr/>
        </p:nvPicPr>
        <p:blipFill>
          <a:blip r:embed="rId8"/>
          <a:stretch>
            <a:fillRect/>
          </a:stretch>
        </p:blipFill>
        <p:spPr>
          <a:xfrm>
            <a:off x="5036344" y="1858268"/>
            <a:ext cx="85725" cy="85725"/>
          </a:xfrm>
          <a:prstGeom prst="rect">
            <a:avLst/>
          </a:prstGeom>
        </p:spPr>
      </p:pic>
      <p:sp>
        <p:nvSpPr>
          <p:cNvPr id="15" name="Text 6"/>
          <p:cNvSpPr/>
          <p:nvPr/>
        </p:nvSpPr>
        <p:spPr>
          <a:xfrm>
            <a:off x="5193506" y="1832372"/>
            <a:ext cx="58028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Log Analytics</a:t>
            </a:r>
            <a:endParaRPr lang="en-US" sz="850" dirty="0">
              <a:solidFill>
                <a:schemeClr val="bg1"/>
              </a:solidFill>
            </a:endParaRPr>
          </a:p>
        </p:txBody>
      </p:sp>
      <p:pic>
        <p:nvPicPr>
          <p:cNvPr id="16" name="Image 6" descr="preencoded.png"/>
          <p:cNvPicPr>
            <a:picLocks noChangeAspect="1"/>
          </p:cNvPicPr>
          <p:nvPr/>
        </p:nvPicPr>
        <p:blipFill>
          <a:blip r:embed="rId9"/>
          <a:stretch>
            <a:fillRect/>
          </a:stretch>
        </p:blipFill>
        <p:spPr>
          <a:xfrm>
            <a:off x="6768703" y="1858268"/>
            <a:ext cx="85725" cy="85725"/>
          </a:xfrm>
          <a:prstGeom prst="rect">
            <a:avLst/>
          </a:prstGeom>
        </p:spPr>
      </p:pic>
      <p:sp>
        <p:nvSpPr>
          <p:cNvPr id="17" name="Text 7"/>
          <p:cNvSpPr/>
          <p:nvPr/>
        </p:nvSpPr>
        <p:spPr>
          <a:xfrm>
            <a:off x="6925866" y="1832372"/>
            <a:ext cx="90569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Infrastructure Alerts</a:t>
            </a:r>
            <a:endParaRPr lang="en-US" sz="850" dirty="0">
              <a:solidFill>
                <a:schemeClr val="bg1"/>
              </a:solidFill>
            </a:endParaRPr>
          </a:p>
        </p:txBody>
      </p:sp>
      <p:sp>
        <p:nvSpPr>
          <p:cNvPr id="18" name="Shape 8"/>
          <p:cNvSpPr/>
          <p:nvPr/>
        </p:nvSpPr>
        <p:spPr>
          <a:xfrm>
            <a:off x="4857750" y="2291358"/>
            <a:ext cx="3714750" cy="1034058"/>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19" name="Image 7" descr="preencoded.png"/>
          <p:cNvPicPr>
            <a:picLocks noChangeAspect="1"/>
          </p:cNvPicPr>
          <p:nvPr/>
        </p:nvPicPr>
        <p:blipFill>
          <a:blip r:embed="rId10"/>
          <a:stretch>
            <a:fillRect/>
          </a:stretch>
        </p:blipFill>
        <p:spPr>
          <a:xfrm>
            <a:off x="5036344" y="2485132"/>
            <a:ext cx="150019" cy="142875"/>
          </a:xfrm>
          <a:prstGeom prst="rect">
            <a:avLst/>
          </a:prstGeom>
        </p:spPr>
      </p:pic>
      <p:sp>
        <p:nvSpPr>
          <p:cNvPr id="20" name="Text 9"/>
          <p:cNvSpPr/>
          <p:nvPr/>
        </p:nvSpPr>
        <p:spPr>
          <a:xfrm>
            <a:off x="5272088" y="2469952"/>
            <a:ext cx="1476970" cy="173236"/>
          </a:xfrm>
          <a:prstGeom prst="rect">
            <a:avLst/>
          </a:prstGeom>
          <a:noFill/>
          <a:ln/>
        </p:spPr>
        <p:txBody>
          <a:bodyPr wrap="square" lIns="0" tIns="0" rIns="0" bIns="0" rtlCol="0" anchor="t">
            <a:spAutoFit/>
          </a:bodyPr>
          <a:lstStyle/>
          <a:p>
            <a:pPr marL="0" indent="0" algn="l">
              <a:buNone/>
            </a:pPr>
            <a:r>
              <a:rPr lang="en-US" sz="1000" b="1" kern="0" spc="1" dirty="0">
                <a:solidFill>
                  <a:srgbClr val="00C7BE"/>
                </a:solidFill>
                <a:latin typeface="Inter ExtraBold" pitchFamily="34" charset="0"/>
                <a:ea typeface="Inter ExtraBold" pitchFamily="34" charset="-122"/>
                <a:cs typeface="Inter ExtraBold" pitchFamily="34" charset="-120"/>
              </a:rPr>
              <a:t>CRITICAL METRICS</a:t>
            </a:r>
            <a:endParaRPr lang="en-US" sz="1000" dirty="0"/>
          </a:p>
        </p:txBody>
      </p:sp>
      <p:pic>
        <p:nvPicPr>
          <p:cNvPr id="21" name="Image 8" descr="preencoded.png"/>
          <p:cNvPicPr>
            <a:picLocks noChangeAspect="1"/>
          </p:cNvPicPr>
          <p:nvPr/>
        </p:nvPicPr>
        <p:blipFill>
          <a:blip r:embed="rId11"/>
          <a:stretch>
            <a:fillRect/>
          </a:stretch>
        </p:blipFill>
        <p:spPr>
          <a:xfrm>
            <a:off x="5036344" y="2776240"/>
            <a:ext cx="85725" cy="85725"/>
          </a:xfrm>
          <a:prstGeom prst="rect">
            <a:avLst/>
          </a:prstGeom>
        </p:spPr>
      </p:pic>
      <p:sp>
        <p:nvSpPr>
          <p:cNvPr id="22" name="Text 10"/>
          <p:cNvSpPr/>
          <p:nvPr/>
        </p:nvSpPr>
        <p:spPr>
          <a:xfrm>
            <a:off x="5193506" y="2750344"/>
            <a:ext cx="527388"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WAF Health</a:t>
            </a:r>
            <a:endParaRPr lang="en-US" sz="850" dirty="0">
              <a:solidFill>
                <a:schemeClr val="bg1"/>
              </a:solidFill>
            </a:endParaRPr>
          </a:p>
        </p:txBody>
      </p:sp>
      <p:pic>
        <p:nvPicPr>
          <p:cNvPr id="23" name="Image 9" descr="preencoded.png"/>
          <p:cNvPicPr>
            <a:picLocks noChangeAspect="1"/>
          </p:cNvPicPr>
          <p:nvPr/>
        </p:nvPicPr>
        <p:blipFill>
          <a:blip r:embed="rId12"/>
          <a:stretch>
            <a:fillRect/>
          </a:stretch>
        </p:blipFill>
        <p:spPr>
          <a:xfrm>
            <a:off x="6768703" y="2776240"/>
            <a:ext cx="85725" cy="85725"/>
          </a:xfrm>
          <a:prstGeom prst="rect">
            <a:avLst/>
          </a:prstGeom>
        </p:spPr>
      </p:pic>
      <p:sp>
        <p:nvSpPr>
          <p:cNvPr id="24" name="Text 11"/>
          <p:cNvSpPr/>
          <p:nvPr/>
        </p:nvSpPr>
        <p:spPr>
          <a:xfrm>
            <a:off x="6925866" y="2750344"/>
            <a:ext cx="66043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VM CPU Usage</a:t>
            </a:r>
            <a:endParaRPr lang="en-US" sz="850" dirty="0">
              <a:solidFill>
                <a:schemeClr val="bg1"/>
              </a:solidFill>
            </a:endParaRPr>
          </a:p>
        </p:txBody>
      </p:sp>
      <p:pic>
        <p:nvPicPr>
          <p:cNvPr id="25" name="Image 10" descr="preencoded.png"/>
          <p:cNvPicPr>
            <a:picLocks noChangeAspect="1"/>
          </p:cNvPicPr>
          <p:nvPr/>
        </p:nvPicPr>
        <p:blipFill>
          <a:blip r:embed="rId13"/>
          <a:stretch>
            <a:fillRect/>
          </a:stretch>
        </p:blipFill>
        <p:spPr>
          <a:xfrm>
            <a:off x="5036344" y="3020913"/>
            <a:ext cx="85725" cy="85725"/>
          </a:xfrm>
          <a:prstGeom prst="rect">
            <a:avLst/>
          </a:prstGeom>
        </p:spPr>
      </p:pic>
      <p:sp>
        <p:nvSpPr>
          <p:cNvPr id="26" name="Text 12"/>
          <p:cNvSpPr/>
          <p:nvPr/>
        </p:nvSpPr>
        <p:spPr>
          <a:xfrm>
            <a:off x="5193506" y="2995017"/>
            <a:ext cx="652423"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SQL Utilization</a:t>
            </a:r>
            <a:endParaRPr lang="en-US" sz="850" dirty="0">
              <a:solidFill>
                <a:schemeClr val="bg1"/>
              </a:solidFill>
            </a:endParaRPr>
          </a:p>
        </p:txBody>
      </p:sp>
      <p:pic>
        <p:nvPicPr>
          <p:cNvPr id="27" name="Image 11" descr="preencoded.png"/>
          <p:cNvPicPr>
            <a:picLocks noChangeAspect="1"/>
          </p:cNvPicPr>
          <p:nvPr/>
        </p:nvPicPr>
        <p:blipFill>
          <a:blip r:embed="rId14"/>
          <a:stretch>
            <a:fillRect/>
          </a:stretch>
        </p:blipFill>
        <p:spPr>
          <a:xfrm>
            <a:off x="6768703" y="3020913"/>
            <a:ext cx="85725" cy="85725"/>
          </a:xfrm>
          <a:prstGeom prst="rect">
            <a:avLst/>
          </a:prstGeom>
        </p:spPr>
      </p:pic>
      <p:sp>
        <p:nvSpPr>
          <p:cNvPr id="28" name="Text 13"/>
          <p:cNvSpPr/>
          <p:nvPr/>
        </p:nvSpPr>
        <p:spPr>
          <a:xfrm>
            <a:off x="6925866" y="2995017"/>
            <a:ext cx="471283"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App Errors</a:t>
            </a:r>
            <a:endParaRPr lang="en-US" sz="850" dirty="0">
              <a:solidFill>
                <a:schemeClr val="bg1"/>
              </a:solidFill>
            </a:endParaRPr>
          </a:p>
        </p:txBody>
      </p:sp>
      <p:sp>
        <p:nvSpPr>
          <p:cNvPr id="29" name="Text 14"/>
          <p:cNvSpPr/>
          <p:nvPr/>
        </p:nvSpPr>
        <p:spPr>
          <a:xfrm>
            <a:off x="4857750" y="3668316"/>
            <a:ext cx="3714750" cy="378619"/>
          </a:xfrm>
          <a:prstGeom prst="rect">
            <a:avLst/>
          </a:prstGeom>
          <a:noFill/>
          <a:ln/>
        </p:spPr>
        <p:txBody>
          <a:bodyPr wrap="square" lIns="170053" tIns="0" rIns="0" bIns="0" rtlCol="0" anchor="t">
            <a:spAutoFit/>
          </a:bodyPr>
          <a:lstStyle/>
          <a:p>
            <a:pPr marL="0" indent="0" algn="l">
              <a:buNone/>
            </a:pPr>
            <a:r>
              <a:rPr lang="en-US" sz="1150" dirty="0">
                <a:solidFill>
                  <a:srgbClr val="FFFFFF"/>
                </a:solidFill>
                <a:latin typeface="Inter Light" pitchFamily="34" charset="0"/>
                <a:ea typeface="Inter Light" pitchFamily="34" charset="-122"/>
                <a:cs typeface="Inter Light" pitchFamily="34" charset="-120"/>
              </a:rPr>
              <a:t>Proactive response reduces downtime risk and ensures a seamless user experience.</a:t>
            </a:r>
            <a:endParaRPr lang="en-US" sz="1150" dirty="0"/>
          </a:p>
        </p:txBody>
      </p:sp>
      <p:pic>
        <p:nvPicPr>
          <p:cNvPr id="30" name="Picture 29" descr="idda_en_clean2.png"/>
          <p:cNvPicPr>
            <a:picLocks noChangeAspect="1"/>
          </p:cNvPicPr>
          <p:nvPr/>
        </p:nvPicPr>
        <p:blipFill>
          <a:blip r:embed="rId15"/>
          <a:stretch>
            <a:fillRect/>
          </a:stretch>
        </p:blipFill>
        <p:spPr>
          <a:xfrm>
            <a:off x="274320" y="182880"/>
            <a:ext cx="1280160" cy="843999"/>
          </a:xfrm>
          <a:prstGeom prst="rect">
            <a:avLst/>
          </a:prstGeom>
        </p:spPr>
      </p:pic>
      <p:pic>
        <p:nvPicPr>
          <p:cNvPr id="31" name="Picture 30" descr="ironhack.png"/>
          <p:cNvPicPr>
            <a:picLocks noChangeAspect="1"/>
          </p:cNvPicPr>
          <p:nvPr/>
        </p:nvPicPr>
        <p:blipFill>
          <a:blip r:embed="rId16"/>
          <a:stretch>
            <a:fillRect/>
          </a:stretch>
        </p:blipFill>
        <p:spPr>
          <a:xfrm>
            <a:off x="7772400" y="182880"/>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140993" y="432911"/>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Avoiding Waste in the Cloud</a:t>
            </a:r>
            <a:endParaRPr lang="en-US" sz="2450" dirty="0"/>
          </a:p>
        </p:txBody>
      </p:sp>
      <p:pic>
        <p:nvPicPr>
          <p:cNvPr id="5" name="Image 1" descr="preencoded.png"/>
          <p:cNvPicPr>
            <a:picLocks noChangeAspect="1"/>
          </p:cNvPicPr>
          <p:nvPr/>
        </p:nvPicPr>
        <p:blipFill>
          <a:blip r:embed="rId4"/>
          <a:stretch>
            <a:fillRect/>
          </a:stretch>
        </p:blipFill>
        <p:spPr>
          <a:xfrm>
            <a:off x="571500" y="999232"/>
            <a:ext cx="142875" cy="128588"/>
          </a:xfrm>
          <a:prstGeom prst="rect">
            <a:avLst/>
          </a:prstGeom>
        </p:spPr>
      </p:pic>
      <p:sp>
        <p:nvSpPr>
          <p:cNvPr id="6" name="Text 1"/>
          <p:cNvSpPr/>
          <p:nvPr/>
        </p:nvSpPr>
        <p:spPr>
          <a:xfrm>
            <a:off x="800100" y="985838"/>
            <a:ext cx="1905595" cy="155377"/>
          </a:xfrm>
          <a:prstGeom prst="rect">
            <a:avLst/>
          </a:prstGeom>
          <a:noFill/>
          <a:ln/>
        </p:spPr>
        <p:txBody>
          <a:bodyPr wrap="square" lIns="0" tIns="0" rIns="0" bIns="0" rtlCol="0" anchor="t">
            <a:spAutoFit/>
          </a:bodyPr>
          <a:lstStyle/>
          <a:p>
            <a:pPr marL="0" indent="0" algn="l">
              <a:buNone/>
            </a:pPr>
            <a:r>
              <a:rPr lang="en-US" sz="900" b="1" kern="0" spc="2" dirty="0">
                <a:solidFill>
                  <a:srgbClr val="F59E0B"/>
                </a:solidFill>
                <a:latin typeface="Inter ExtraBold" pitchFamily="34" charset="0"/>
                <a:ea typeface="Inter ExtraBold" pitchFamily="34" charset="-122"/>
                <a:cs typeface="Inter ExtraBold" pitchFamily="34" charset="-120"/>
              </a:rPr>
              <a:t>EFFICIENCY STRATEGIES</a:t>
            </a:r>
            <a:endParaRPr lang="en-US" sz="900" dirty="0"/>
          </a:p>
        </p:txBody>
      </p:sp>
      <p:sp>
        <p:nvSpPr>
          <p:cNvPr id="7" name="Shape 2"/>
          <p:cNvSpPr/>
          <p:nvPr/>
        </p:nvSpPr>
        <p:spPr>
          <a:xfrm>
            <a:off x="571500" y="1269802"/>
            <a:ext cx="3857625" cy="2714625"/>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8" name="Image 2" descr="preencoded.png"/>
          <p:cNvPicPr>
            <a:picLocks noChangeAspect="1"/>
          </p:cNvPicPr>
          <p:nvPr/>
        </p:nvPicPr>
        <p:blipFill>
          <a:blip r:embed="rId5"/>
          <a:stretch>
            <a:fillRect/>
          </a:stretch>
        </p:blipFill>
        <p:spPr>
          <a:xfrm>
            <a:off x="800100" y="1484114"/>
            <a:ext cx="178594" cy="142875"/>
          </a:xfrm>
          <a:prstGeom prst="rect">
            <a:avLst/>
          </a:prstGeom>
        </p:spPr>
      </p:pic>
      <p:sp>
        <p:nvSpPr>
          <p:cNvPr id="9" name="Text 3"/>
          <p:cNvSpPr/>
          <p:nvPr/>
        </p:nvSpPr>
        <p:spPr>
          <a:xfrm>
            <a:off x="1121569" y="1441252"/>
            <a:ext cx="3078956"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Resource Consolidation</a:t>
            </a:r>
            <a:endParaRPr lang="en-US" sz="1000" dirty="0"/>
          </a:p>
        </p:txBody>
      </p:sp>
      <p:sp>
        <p:nvSpPr>
          <p:cNvPr id="10" name="Text 4"/>
          <p:cNvSpPr/>
          <p:nvPr/>
        </p:nvSpPr>
        <p:spPr>
          <a:xfrm>
            <a:off x="1121569" y="1657350"/>
            <a:ext cx="3078956"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NAT Gateway centralizes outbound access, eliminating the need for expensive public IPs on every VM.</a:t>
            </a:r>
            <a:endParaRPr lang="en-US" sz="850" dirty="0">
              <a:solidFill>
                <a:schemeClr val="bg1"/>
              </a:solidFill>
            </a:endParaRPr>
          </a:p>
        </p:txBody>
      </p:sp>
      <p:pic>
        <p:nvPicPr>
          <p:cNvPr id="11" name="Image 3" descr="preencoded.png"/>
          <p:cNvPicPr>
            <a:picLocks noChangeAspect="1"/>
          </p:cNvPicPr>
          <p:nvPr/>
        </p:nvPicPr>
        <p:blipFill>
          <a:blip r:embed="rId6"/>
          <a:stretch>
            <a:fillRect/>
          </a:stretch>
        </p:blipFill>
        <p:spPr>
          <a:xfrm>
            <a:off x="800100" y="2185988"/>
            <a:ext cx="142875" cy="142875"/>
          </a:xfrm>
          <a:prstGeom prst="rect">
            <a:avLst/>
          </a:prstGeom>
        </p:spPr>
      </p:pic>
      <p:sp>
        <p:nvSpPr>
          <p:cNvPr id="12" name="Text 5"/>
          <p:cNvSpPr/>
          <p:nvPr/>
        </p:nvSpPr>
        <p:spPr>
          <a:xfrm>
            <a:off x="1085850" y="2143125"/>
            <a:ext cx="3114675"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Lifecycle Automation</a:t>
            </a:r>
            <a:endParaRPr lang="en-US" sz="1000" dirty="0"/>
          </a:p>
        </p:txBody>
      </p:sp>
      <p:sp>
        <p:nvSpPr>
          <p:cNvPr id="13" name="Text 6"/>
          <p:cNvSpPr/>
          <p:nvPr/>
        </p:nvSpPr>
        <p:spPr>
          <a:xfrm>
            <a:off x="1085850" y="2359223"/>
            <a:ext cx="3114675"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Terraform allows resources to be created, scaled, or destroyed cleanly, preventing "zombie" resources.</a:t>
            </a:r>
            <a:endParaRPr lang="en-US" sz="850" dirty="0">
              <a:solidFill>
                <a:schemeClr val="bg1"/>
              </a:solidFill>
            </a:endParaRPr>
          </a:p>
        </p:txBody>
      </p:sp>
      <p:pic>
        <p:nvPicPr>
          <p:cNvPr id="14" name="Image 4" descr="preencoded.png"/>
          <p:cNvPicPr>
            <a:picLocks noChangeAspect="1"/>
          </p:cNvPicPr>
          <p:nvPr/>
        </p:nvPicPr>
        <p:blipFill>
          <a:blip r:embed="rId7"/>
          <a:stretch>
            <a:fillRect/>
          </a:stretch>
        </p:blipFill>
        <p:spPr>
          <a:xfrm>
            <a:off x="800100" y="2887861"/>
            <a:ext cx="160734" cy="142875"/>
          </a:xfrm>
          <a:prstGeom prst="rect">
            <a:avLst/>
          </a:prstGeom>
        </p:spPr>
      </p:pic>
      <p:sp>
        <p:nvSpPr>
          <p:cNvPr id="15" name="Text 7"/>
          <p:cNvSpPr/>
          <p:nvPr/>
        </p:nvSpPr>
        <p:spPr>
          <a:xfrm>
            <a:off x="1103709" y="2844998"/>
            <a:ext cx="3096816"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Right-Sizing</a:t>
            </a:r>
            <a:endParaRPr lang="en-US" sz="1000" dirty="0"/>
          </a:p>
        </p:txBody>
      </p:sp>
      <p:sp>
        <p:nvSpPr>
          <p:cNvPr id="16" name="Text 8"/>
          <p:cNvSpPr/>
          <p:nvPr/>
        </p:nvSpPr>
        <p:spPr>
          <a:xfrm>
            <a:off x="1103709" y="3061097"/>
            <a:ext cx="3096816"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Continuous monitoring detects over-provisioned resources, allowing for data-driven scaling decisions.</a:t>
            </a:r>
            <a:endParaRPr lang="en-US" sz="850" dirty="0">
              <a:solidFill>
                <a:schemeClr val="bg1"/>
              </a:solidFill>
            </a:endParaRPr>
          </a:p>
        </p:txBody>
      </p:sp>
      <p:pic>
        <p:nvPicPr>
          <p:cNvPr id="17" name="Image 5" descr="preencoded.png"/>
          <p:cNvPicPr>
            <a:picLocks noChangeAspect="1"/>
          </p:cNvPicPr>
          <p:nvPr/>
        </p:nvPicPr>
        <p:blipFill>
          <a:blip r:embed="rId8"/>
          <a:stretch>
            <a:fillRect/>
          </a:stretch>
        </p:blipFill>
        <p:spPr>
          <a:xfrm>
            <a:off x="4714875" y="999232"/>
            <a:ext cx="142875" cy="128588"/>
          </a:xfrm>
          <a:prstGeom prst="rect">
            <a:avLst/>
          </a:prstGeom>
        </p:spPr>
      </p:pic>
      <p:sp>
        <p:nvSpPr>
          <p:cNvPr id="18" name="Text 9"/>
          <p:cNvSpPr/>
          <p:nvPr/>
        </p:nvSpPr>
        <p:spPr>
          <a:xfrm>
            <a:off x="4943475" y="985838"/>
            <a:ext cx="1309092" cy="155377"/>
          </a:xfrm>
          <a:prstGeom prst="rect">
            <a:avLst/>
          </a:prstGeom>
          <a:noFill/>
          <a:ln/>
        </p:spPr>
        <p:txBody>
          <a:bodyPr wrap="square" lIns="0" tIns="0" rIns="0" bIns="0" rtlCol="0" anchor="t">
            <a:spAutoFit/>
          </a:bodyPr>
          <a:lstStyle/>
          <a:p>
            <a:pPr marL="0" indent="0" algn="l">
              <a:buNone/>
            </a:pPr>
            <a:r>
              <a:rPr lang="en-US" sz="900" b="1" kern="0" spc="2" dirty="0">
                <a:solidFill>
                  <a:srgbClr val="00C7BE"/>
                </a:solidFill>
                <a:latin typeface="Inter ExtraBold" pitchFamily="34" charset="0"/>
                <a:ea typeface="Inter ExtraBold" pitchFamily="34" charset="-122"/>
                <a:cs typeface="Inter ExtraBold" pitchFamily="34" charset="-120"/>
              </a:rPr>
              <a:t>BUSINESS VALUE</a:t>
            </a:r>
            <a:endParaRPr lang="en-US" sz="900" dirty="0"/>
          </a:p>
        </p:txBody>
      </p:sp>
      <p:sp>
        <p:nvSpPr>
          <p:cNvPr id="19" name="Shape 10"/>
          <p:cNvSpPr/>
          <p:nvPr/>
        </p:nvSpPr>
        <p:spPr>
          <a:xfrm>
            <a:off x="4714875" y="1269802"/>
            <a:ext cx="3857625" cy="2714625"/>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20" name="Image 6" descr="preencoded.png"/>
          <p:cNvPicPr>
            <a:picLocks noChangeAspect="1"/>
          </p:cNvPicPr>
          <p:nvPr/>
        </p:nvPicPr>
        <p:blipFill>
          <a:blip r:embed="rId9"/>
          <a:stretch>
            <a:fillRect/>
          </a:stretch>
        </p:blipFill>
        <p:spPr>
          <a:xfrm>
            <a:off x="4943475" y="1484114"/>
            <a:ext cx="142875" cy="142875"/>
          </a:xfrm>
          <a:prstGeom prst="rect">
            <a:avLst/>
          </a:prstGeom>
        </p:spPr>
      </p:pic>
      <p:sp>
        <p:nvSpPr>
          <p:cNvPr id="21" name="Text 11"/>
          <p:cNvSpPr/>
          <p:nvPr/>
        </p:nvSpPr>
        <p:spPr>
          <a:xfrm>
            <a:off x="5229225" y="1441252"/>
            <a:ext cx="3114675"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Lower Operational Waste</a:t>
            </a:r>
            <a:endParaRPr lang="en-US" sz="1000" dirty="0"/>
          </a:p>
        </p:txBody>
      </p:sp>
      <p:sp>
        <p:nvSpPr>
          <p:cNvPr id="22" name="Text 12"/>
          <p:cNvSpPr/>
          <p:nvPr/>
        </p:nvSpPr>
        <p:spPr>
          <a:xfrm>
            <a:off x="5229225" y="1657350"/>
            <a:ext cx="3114675"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Paying only for what is needed, when it is needed, through automated resource management.</a:t>
            </a:r>
            <a:endParaRPr lang="en-US" sz="850" dirty="0">
              <a:solidFill>
                <a:schemeClr val="bg1"/>
              </a:solidFill>
            </a:endParaRPr>
          </a:p>
        </p:txBody>
      </p:sp>
      <p:pic>
        <p:nvPicPr>
          <p:cNvPr id="23" name="Image 7" descr="preencoded.png"/>
          <p:cNvPicPr>
            <a:picLocks noChangeAspect="1"/>
          </p:cNvPicPr>
          <p:nvPr/>
        </p:nvPicPr>
        <p:blipFill>
          <a:blip r:embed="rId10"/>
          <a:stretch>
            <a:fillRect/>
          </a:stretch>
        </p:blipFill>
        <p:spPr>
          <a:xfrm>
            <a:off x="4943475" y="2185988"/>
            <a:ext cx="125016" cy="142875"/>
          </a:xfrm>
          <a:prstGeom prst="rect">
            <a:avLst/>
          </a:prstGeom>
        </p:spPr>
      </p:pic>
      <p:sp>
        <p:nvSpPr>
          <p:cNvPr id="24" name="Text 13"/>
          <p:cNvSpPr/>
          <p:nvPr/>
        </p:nvSpPr>
        <p:spPr>
          <a:xfrm>
            <a:off x="5211366" y="2143125"/>
            <a:ext cx="3132534"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Scalable Foundation</a:t>
            </a:r>
            <a:endParaRPr lang="en-US" sz="1000" dirty="0"/>
          </a:p>
        </p:txBody>
      </p:sp>
      <p:sp>
        <p:nvSpPr>
          <p:cNvPr id="25" name="Text 14"/>
          <p:cNvSpPr/>
          <p:nvPr/>
        </p:nvSpPr>
        <p:spPr>
          <a:xfrm>
            <a:off x="5211366" y="2359223"/>
            <a:ext cx="3132534"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Internal load balancers prepare for future growth without requiring a costly architectural redesign.</a:t>
            </a:r>
            <a:endParaRPr lang="en-US" sz="850" dirty="0">
              <a:solidFill>
                <a:schemeClr val="bg1"/>
              </a:solidFill>
            </a:endParaRPr>
          </a:p>
        </p:txBody>
      </p:sp>
      <p:pic>
        <p:nvPicPr>
          <p:cNvPr id="26" name="Image 8" descr="preencoded.png"/>
          <p:cNvPicPr>
            <a:picLocks noChangeAspect="1"/>
          </p:cNvPicPr>
          <p:nvPr/>
        </p:nvPicPr>
        <p:blipFill>
          <a:blip r:embed="rId11"/>
          <a:stretch>
            <a:fillRect/>
          </a:stretch>
        </p:blipFill>
        <p:spPr>
          <a:xfrm>
            <a:off x="4943475" y="2887861"/>
            <a:ext cx="107156" cy="142875"/>
          </a:xfrm>
          <a:prstGeom prst="rect">
            <a:avLst/>
          </a:prstGeom>
        </p:spPr>
      </p:pic>
      <p:sp>
        <p:nvSpPr>
          <p:cNvPr id="27" name="Text 15"/>
          <p:cNvSpPr/>
          <p:nvPr/>
        </p:nvSpPr>
        <p:spPr>
          <a:xfrm>
            <a:off x="5193506" y="2844998"/>
            <a:ext cx="3150394"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Cleaner Operations</a:t>
            </a:r>
            <a:endParaRPr lang="en-US" sz="1000" dirty="0"/>
          </a:p>
        </p:txBody>
      </p:sp>
      <p:sp>
        <p:nvSpPr>
          <p:cNvPr id="28" name="Text 16"/>
          <p:cNvSpPr/>
          <p:nvPr/>
        </p:nvSpPr>
        <p:spPr>
          <a:xfrm>
            <a:off x="5193506" y="3061097"/>
            <a:ext cx="3150394"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Standardized infrastructure reduces the hidden costs of manual troubleshooting and environment drift.</a:t>
            </a:r>
            <a:endParaRPr lang="en-US" sz="850" dirty="0">
              <a:solidFill>
                <a:schemeClr val="bg1"/>
              </a:solidFill>
            </a:endParaRPr>
          </a:p>
        </p:txBody>
      </p:sp>
      <p:sp>
        <p:nvSpPr>
          <p:cNvPr id="29" name="Text 17"/>
          <p:cNvSpPr/>
          <p:nvPr/>
        </p:nvSpPr>
        <p:spPr>
          <a:xfrm>
            <a:off x="0" y="4479131"/>
            <a:ext cx="9144000" cy="664369"/>
          </a:xfrm>
          <a:prstGeom prst="rect">
            <a:avLst/>
          </a:prstGeom>
          <a:noFill/>
          <a:ln/>
        </p:spPr>
        <p:txBody>
          <a:bodyPr wrap="square" lIns="680339" tIns="204089" rIns="0" bIns="340233" rtlCol="0" anchor="t">
            <a:spAutoFit/>
          </a:bodyPr>
          <a:lstStyle/>
          <a:p>
            <a:pPr marL="0" indent="0" algn="l">
              <a:buNone/>
            </a:pPr>
            <a:r>
              <a:rPr lang="en-US" sz="1250" dirty="0">
                <a:solidFill>
                  <a:srgbClr val="FFFFFF"/>
                </a:solidFill>
                <a:latin typeface="Inter Light" pitchFamily="34" charset="0"/>
                <a:ea typeface="Inter Light" pitchFamily="34" charset="-122"/>
                <a:cs typeface="Inter Light" pitchFamily="34" charset="-120"/>
              </a:rPr>
              <a:t>"Right resource, </a:t>
            </a:r>
            <a:r>
              <a:rPr lang="en-US" sz="1200" b="1" dirty="0">
                <a:solidFill>
                  <a:srgbClr val="F59E0B"/>
                </a:solidFill>
                <a:latin typeface="Inter ExtraBold" pitchFamily="34" charset="0"/>
                <a:ea typeface="Inter ExtraBold" pitchFamily="34" charset="-122"/>
                <a:cs typeface="Inter ExtraBold" pitchFamily="34" charset="-120"/>
              </a:rPr>
              <a:t>right purpose</a:t>
            </a:r>
            <a:r>
              <a:rPr lang="en-US" sz="1250" dirty="0">
                <a:solidFill>
                  <a:srgbClr val="FFFFFF"/>
                </a:solidFill>
                <a:latin typeface="Inter Light" pitchFamily="34" charset="0"/>
                <a:ea typeface="Inter Light" pitchFamily="34" charset="-122"/>
                <a:cs typeface="Inter Light" pitchFamily="34" charset="-120"/>
              </a:rPr>
              <a:t>."</a:t>
            </a:r>
            <a:endParaRPr lang="en-US" sz="1250" dirty="0"/>
          </a:p>
        </p:txBody>
      </p:sp>
      <p:pic>
        <p:nvPicPr>
          <p:cNvPr id="30" name="Picture 29" descr="idda_en_clean2.png"/>
          <p:cNvPicPr>
            <a:picLocks noChangeAspect="1"/>
          </p:cNvPicPr>
          <p:nvPr/>
        </p:nvPicPr>
        <p:blipFill>
          <a:blip r:embed="rId12"/>
          <a:stretch>
            <a:fillRect/>
          </a:stretch>
        </p:blipFill>
        <p:spPr>
          <a:xfrm>
            <a:off x="265736" y="34683"/>
            <a:ext cx="1280160" cy="843999"/>
          </a:xfrm>
          <a:prstGeom prst="rect">
            <a:avLst/>
          </a:prstGeom>
        </p:spPr>
      </p:pic>
      <p:pic>
        <p:nvPicPr>
          <p:cNvPr id="31" name="Picture 30" descr="ironhack.png"/>
          <p:cNvPicPr>
            <a:picLocks noChangeAspect="1"/>
          </p:cNvPicPr>
          <p:nvPr/>
        </p:nvPicPr>
        <p:blipFill>
          <a:blip r:embed="rId13"/>
          <a:stretch>
            <a:fillRect/>
          </a:stretch>
        </p:blipFill>
        <p:spPr>
          <a:xfrm>
            <a:off x="7772400" y="13842"/>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64931"/>
          </a:xfrm>
          <a:prstGeom prst="rect">
            <a:avLst/>
          </a:prstGeom>
        </p:spPr>
      </p:pic>
      <p:sp>
        <p:nvSpPr>
          <p:cNvPr id="4" name="Text 0"/>
          <p:cNvSpPr/>
          <p:nvPr/>
        </p:nvSpPr>
        <p:spPr>
          <a:xfrm>
            <a:off x="3069040" y="57014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More Than a Demo</a:t>
            </a:r>
            <a:endParaRPr lang="en-US" sz="2450" dirty="0"/>
          </a:p>
        </p:txBody>
      </p:sp>
      <p:sp>
        <p:nvSpPr>
          <p:cNvPr id="5" name="Shape 1"/>
          <p:cNvSpPr/>
          <p:nvPr/>
        </p:nvSpPr>
        <p:spPr>
          <a:xfrm>
            <a:off x="571500" y="1271588"/>
            <a:ext cx="8001000" cy="3143250"/>
          </a:xfrm>
          <a:prstGeom prst="rect">
            <a:avLst/>
          </a:prstGeom>
          <a:solidFill>
            <a:srgbClr val="FFFFFF">
              <a:alpha val="3000"/>
            </a:srgbClr>
          </a:solidFill>
          <a:ln w="9144">
            <a:solidFill>
              <a:srgbClr val="00C7BE">
                <a:alpha val="30000"/>
              </a:srgbClr>
            </a:solidFill>
            <a:prstDash val="solid"/>
          </a:ln>
        </p:spPr>
        <p:txBody>
          <a:bodyPr/>
          <a:lstStyle/>
          <a:p>
            <a:endParaRPr lang="en-US"/>
          </a:p>
        </p:txBody>
      </p:sp>
      <p:sp>
        <p:nvSpPr>
          <p:cNvPr id="6" name="Shape 2"/>
          <p:cNvSpPr/>
          <p:nvPr/>
        </p:nvSpPr>
        <p:spPr>
          <a:xfrm>
            <a:off x="1143000" y="1708249"/>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1250156" y="1815405"/>
            <a:ext cx="142875" cy="142875"/>
          </a:xfrm>
          <a:prstGeom prst="rect">
            <a:avLst/>
          </a:prstGeom>
        </p:spPr>
      </p:pic>
      <p:sp>
        <p:nvSpPr>
          <p:cNvPr id="8" name="Text 3"/>
          <p:cNvSpPr/>
          <p:nvPr/>
        </p:nvSpPr>
        <p:spPr>
          <a:xfrm>
            <a:off x="1678781" y="1700213"/>
            <a:ext cx="1680567"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Secure</a:t>
            </a:r>
            <a:endParaRPr lang="en-US" sz="1200" dirty="0"/>
          </a:p>
        </p:txBody>
      </p:sp>
      <p:sp>
        <p:nvSpPr>
          <p:cNvPr id="9" name="Text 4"/>
          <p:cNvSpPr/>
          <p:nvPr/>
        </p:nvSpPr>
        <p:spPr>
          <a:xfrm>
            <a:off x="1678781" y="1935956"/>
            <a:ext cx="1680567"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WAF v2 &amp; Private VNet isolation</a:t>
            </a:r>
            <a:endParaRPr lang="en-US" sz="850" dirty="0">
              <a:solidFill>
                <a:schemeClr val="bg1"/>
              </a:solidFill>
            </a:endParaRPr>
          </a:p>
        </p:txBody>
      </p:sp>
      <p:sp>
        <p:nvSpPr>
          <p:cNvPr id="10" name="Shape 5"/>
          <p:cNvSpPr/>
          <p:nvPr/>
        </p:nvSpPr>
        <p:spPr>
          <a:xfrm>
            <a:off x="4714875" y="1708249"/>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11" name="Image 2" descr="preencoded.png"/>
          <p:cNvPicPr>
            <a:picLocks noChangeAspect="1"/>
          </p:cNvPicPr>
          <p:nvPr/>
        </p:nvPicPr>
        <p:blipFill>
          <a:blip r:embed="rId4"/>
          <a:stretch>
            <a:fillRect/>
          </a:stretch>
        </p:blipFill>
        <p:spPr>
          <a:xfrm>
            <a:off x="4822031" y="1815405"/>
            <a:ext cx="142875" cy="142875"/>
          </a:xfrm>
          <a:prstGeom prst="rect">
            <a:avLst/>
          </a:prstGeom>
        </p:spPr>
      </p:pic>
      <p:sp>
        <p:nvSpPr>
          <p:cNvPr id="12" name="Text 6"/>
          <p:cNvSpPr/>
          <p:nvPr/>
        </p:nvSpPr>
        <p:spPr>
          <a:xfrm>
            <a:off x="5250656" y="1700213"/>
            <a:ext cx="1509117"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Automated</a:t>
            </a:r>
            <a:endParaRPr lang="en-US" sz="1200" dirty="0"/>
          </a:p>
        </p:txBody>
      </p:sp>
      <p:sp>
        <p:nvSpPr>
          <p:cNvPr id="13" name="Text 7"/>
          <p:cNvSpPr/>
          <p:nvPr/>
        </p:nvSpPr>
        <p:spPr>
          <a:xfrm>
            <a:off x="5250656" y="1935956"/>
            <a:ext cx="1509117"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Terraform &amp; Ansible delivery</a:t>
            </a:r>
            <a:endParaRPr lang="en-US" sz="850" dirty="0">
              <a:solidFill>
                <a:schemeClr val="bg1"/>
              </a:solidFill>
            </a:endParaRPr>
          </a:p>
        </p:txBody>
      </p:sp>
      <p:sp>
        <p:nvSpPr>
          <p:cNvPr id="14" name="Shape 8"/>
          <p:cNvSpPr/>
          <p:nvPr/>
        </p:nvSpPr>
        <p:spPr>
          <a:xfrm>
            <a:off x="1143000" y="2367260"/>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1250156" y="2474416"/>
            <a:ext cx="142875" cy="142875"/>
          </a:xfrm>
          <a:prstGeom prst="rect">
            <a:avLst/>
          </a:prstGeom>
        </p:spPr>
      </p:pic>
      <p:sp>
        <p:nvSpPr>
          <p:cNvPr id="16" name="Text 9"/>
          <p:cNvSpPr/>
          <p:nvPr/>
        </p:nvSpPr>
        <p:spPr>
          <a:xfrm>
            <a:off x="1678781" y="2359223"/>
            <a:ext cx="1564481"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Monitored</a:t>
            </a:r>
            <a:endParaRPr lang="en-US" sz="1200" dirty="0"/>
          </a:p>
        </p:txBody>
      </p:sp>
      <p:sp>
        <p:nvSpPr>
          <p:cNvPr id="17" name="Text 10"/>
          <p:cNvSpPr/>
          <p:nvPr/>
        </p:nvSpPr>
        <p:spPr>
          <a:xfrm>
            <a:off x="1678781" y="2594967"/>
            <a:ext cx="1564481"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Real-time Azure observability</a:t>
            </a:r>
            <a:endParaRPr lang="en-US" sz="850" dirty="0">
              <a:solidFill>
                <a:schemeClr val="bg1"/>
              </a:solidFill>
            </a:endParaRPr>
          </a:p>
        </p:txBody>
      </p:sp>
      <p:sp>
        <p:nvSpPr>
          <p:cNvPr id="18" name="Shape 11"/>
          <p:cNvSpPr/>
          <p:nvPr/>
        </p:nvSpPr>
        <p:spPr>
          <a:xfrm>
            <a:off x="4714875" y="2367260"/>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19" name="Image 4" descr="preencoded.png"/>
          <p:cNvPicPr>
            <a:picLocks noChangeAspect="1"/>
          </p:cNvPicPr>
          <p:nvPr/>
        </p:nvPicPr>
        <p:blipFill>
          <a:blip r:embed="rId5"/>
          <a:stretch>
            <a:fillRect/>
          </a:stretch>
        </p:blipFill>
        <p:spPr>
          <a:xfrm>
            <a:off x="4822031" y="2474416"/>
            <a:ext cx="142875" cy="142875"/>
          </a:xfrm>
          <a:prstGeom prst="rect">
            <a:avLst/>
          </a:prstGeom>
        </p:spPr>
      </p:pic>
      <p:sp>
        <p:nvSpPr>
          <p:cNvPr id="20" name="Text 12"/>
          <p:cNvSpPr/>
          <p:nvPr/>
        </p:nvSpPr>
        <p:spPr>
          <a:xfrm>
            <a:off x="5250656" y="2359223"/>
            <a:ext cx="1426964"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Repeatable</a:t>
            </a:r>
            <a:endParaRPr lang="en-US" sz="1200" dirty="0"/>
          </a:p>
        </p:txBody>
      </p:sp>
      <p:sp>
        <p:nvSpPr>
          <p:cNvPr id="21" name="Text 13"/>
          <p:cNvSpPr/>
          <p:nvPr/>
        </p:nvSpPr>
        <p:spPr>
          <a:xfrm>
            <a:off x="5250656" y="2594967"/>
            <a:ext cx="1426964"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Consistent CI/CD pipelines</a:t>
            </a:r>
            <a:endParaRPr lang="en-US" sz="850" dirty="0">
              <a:solidFill>
                <a:schemeClr val="bg1"/>
              </a:solidFill>
            </a:endParaRPr>
          </a:p>
        </p:txBody>
      </p:sp>
      <p:sp>
        <p:nvSpPr>
          <p:cNvPr id="22" name="Shape 14"/>
          <p:cNvSpPr/>
          <p:nvPr/>
        </p:nvSpPr>
        <p:spPr>
          <a:xfrm>
            <a:off x="1143000" y="3026271"/>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23" name="Image 5" descr="preencoded.png"/>
          <p:cNvPicPr>
            <a:picLocks noChangeAspect="1"/>
          </p:cNvPicPr>
          <p:nvPr/>
        </p:nvPicPr>
        <p:blipFill>
          <a:blip r:embed="rId6"/>
          <a:stretch>
            <a:fillRect/>
          </a:stretch>
        </p:blipFill>
        <p:spPr>
          <a:xfrm>
            <a:off x="1250156" y="3133427"/>
            <a:ext cx="142875" cy="142875"/>
          </a:xfrm>
          <a:prstGeom prst="rect">
            <a:avLst/>
          </a:prstGeom>
        </p:spPr>
      </p:pic>
      <p:sp>
        <p:nvSpPr>
          <p:cNvPr id="24" name="Text 15"/>
          <p:cNvSpPr/>
          <p:nvPr/>
        </p:nvSpPr>
        <p:spPr>
          <a:xfrm>
            <a:off x="1678781" y="3018234"/>
            <a:ext cx="1582341"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Scalable</a:t>
            </a:r>
            <a:endParaRPr lang="en-US" sz="1200" dirty="0"/>
          </a:p>
        </p:txBody>
      </p:sp>
      <p:sp>
        <p:nvSpPr>
          <p:cNvPr id="25" name="Text 16"/>
          <p:cNvSpPr/>
          <p:nvPr/>
        </p:nvSpPr>
        <p:spPr>
          <a:xfrm>
            <a:off x="1678781" y="3253978"/>
            <a:ext cx="1582341"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3-Tier architecture foundation</a:t>
            </a:r>
            <a:endParaRPr lang="en-US" sz="850" dirty="0">
              <a:solidFill>
                <a:schemeClr val="bg1"/>
              </a:solidFill>
            </a:endParaRPr>
          </a:p>
        </p:txBody>
      </p:sp>
      <p:sp>
        <p:nvSpPr>
          <p:cNvPr id="26" name="Shape 17"/>
          <p:cNvSpPr/>
          <p:nvPr/>
        </p:nvSpPr>
        <p:spPr>
          <a:xfrm>
            <a:off x="4714875" y="3026271"/>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27" name="Image 6" descr="preencoded.png"/>
          <p:cNvPicPr>
            <a:picLocks noChangeAspect="1"/>
          </p:cNvPicPr>
          <p:nvPr/>
        </p:nvPicPr>
        <p:blipFill>
          <a:blip r:embed="rId6"/>
          <a:stretch>
            <a:fillRect/>
          </a:stretch>
        </p:blipFill>
        <p:spPr>
          <a:xfrm>
            <a:off x="4822031" y="3133427"/>
            <a:ext cx="142875" cy="142875"/>
          </a:xfrm>
          <a:prstGeom prst="rect">
            <a:avLst/>
          </a:prstGeom>
        </p:spPr>
      </p:pic>
      <p:sp>
        <p:nvSpPr>
          <p:cNvPr id="28" name="Text 18"/>
          <p:cNvSpPr/>
          <p:nvPr/>
        </p:nvSpPr>
        <p:spPr>
          <a:xfrm>
            <a:off x="5250656" y="3018234"/>
            <a:ext cx="1430536"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Trusted</a:t>
            </a:r>
            <a:endParaRPr lang="en-US" sz="1200" dirty="0"/>
          </a:p>
        </p:txBody>
      </p:sp>
      <p:sp>
        <p:nvSpPr>
          <p:cNvPr id="29" name="Text 19"/>
          <p:cNvSpPr/>
          <p:nvPr/>
        </p:nvSpPr>
        <p:spPr>
          <a:xfrm>
            <a:off x="5250656" y="3253978"/>
            <a:ext cx="1430536"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Verified HTTPS certificates</a:t>
            </a:r>
            <a:endParaRPr lang="en-US" sz="850" dirty="0">
              <a:solidFill>
                <a:schemeClr val="bg1"/>
              </a:solidFill>
            </a:endParaRPr>
          </a:p>
        </p:txBody>
      </p:sp>
      <p:sp>
        <p:nvSpPr>
          <p:cNvPr id="30" name="Text 20"/>
          <p:cNvSpPr/>
          <p:nvPr/>
        </p:nvSpPr>
        <p:spPr>
          <a:xfrm>
            <a:off x="0" y="4414838"/>
            <a:ext cx="9144000" cy="845103"/>
          </a:xfrm>
          <a:prstGeom prst="rect">
            <a:avLst/>
          </a:prstGeom>
          <a:noFill/>
          <a:ln/>
        </p:spPr>
        <p:txBody>
          <a:bodyPr wrap="square" lIns="680339" tIns="340233" rIns="680339" bIns="306197" rtlCol="0" anchor="t">
            <a:spAutoFit/>
          </a:bodyPr>
          <a:lstStyle/>
          <a:p>
            <a:pPr marL="0" indent="0" algn="ctr">
              <a:buNone/>
            </a:pPr>
            <a:r>
              <a:rPr lang="en-US" sz="1250" dirty="0">
                <a:solidFill>
                  <a:schemeClr val="bg1"/>
                </a:solidFill>
                <a:latin typeface="Inter Light" pitchFamily="34" charset="0"/>
                <a:ea typeface="Inter Light" pitchFamily="34" charset="-122"/>
                <a:cs typeface="Inter Light" pitchFamily="34" charset="-120"/>
              </a:rPr>
              <a:t>The app works, but more importantly, </a:t>
            </a:r>
            <a:r>
              <a:rPr lang="en-US" sz="1200" b="1" dirty="0">
                <a:solidFill>
                  <a:schemeClr val="bg1"/>
                </a:solidFill>
                <a:latin typeface="Inter ExtraBold" pitchFamily="34" charset="0"/>
                <a:ea typeface="Inter ExtraBold" pitchFamily="34" charset="-122"/>
                <a:cs typeface="Inter ExtraBold" pitchFamily="34" charset="-120"/>
              </a:rPr>
              <a:t>the system around the app works.</a:t>
            </a:r>
            <a:endParaRPr lang="en-US" sz="1250" dirty="0">
              <a:solidFill>
                <a:schemeClr val="bg1"/>
              </a:solidFill>
            </a:endParaRPr>
          </a:p>
        </p:txBody>
      </p:sp>
      <p:pic>
        <p:nvPicPr>
          <p:cNvPr id="31" name="Picture 30" descr="idda_en_clean2.png"/>
          <p:cNvPicPr>
            <a:picLocks noChangeAspect="1"/>
          </p:cNvPicPr>
          <p:nvPr/>
        </p:nvPicPr>
        <p:blipFill>
          <a:blip r:embed="rId7"/>
          <a:stretch>
            <a:fillRect/>
          </a:stretch>
        </p:blipFill>
        <p:spPr>
          <a:xfrm>
            <a:off x="274320" y="182880"/>
            <a:ext cx="1280160" cy="843999"/>
          </a:xfrm>
          <a:prstGeom prst="rect">
            <a:avLst/>
          </a:prstGeom>
        </p:spPr>
      </p:pic>
      <p:pic>
        <p:nvPicPr>
          <p:cNvPr id="32" name="Picture 31" descr="ironhack.png"/>
          <p:cNvPicPr>
            <a:picLocks noChangeAspect="1"/>
          </p:cNvPicPr>
          <p:nvPr/>
        </p:nvPicPr>
        <p:blipFill>
          <a:blip r:embed="rId8"/>
          <a:stretch>
            <a:fillRect/>
          </a:stretch>
        </p:blipFill>
        <p:spPr>
          <a:xfrm>
            <a:off x="7772400" y="182880"/>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464594" y="470309"/>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Four People, One System</a:t>
            </a:r>
            <a:endParaRPr lang="en-US" sz="2450" dirty="0"/>
          </a:p>
        </p:txBody>
      </p:sp>
      <p:sp>
        <p:nvSpPr>
          <p:cNvPr id="5" name="Shape 1"/>
          <p:cNvSpPr/>
          <p:nvPr/>
        </p:nvSpPr>
        <p:spPr>
          <a:xfrm>
            <a:off x="571500"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1410891" y="1359098"/>
            <a:ext cx="214313" cy="171450"/>
          </a:xfrm>
          <a:prstGeom prst="rect">
            <a:avLst/>
          </a:prstGeom>
        </p:spPr>
      </p:pic>
      <p:sp>
        <p:nvSpPr>
          <p:cNvPr id="7" name="Text 2"/>
          <p:cNvSpPr/>
          <p:nvPr/>
        </p:nvSpPr>
        <p:spPr>
          <a:xfrm>
            <a:off x="714375"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Frontend</a:t>
            </a:r>
            <a:endParaRPr lang="en-US" sz="900" dirty="0"/>
          </a:p>
        </p:txBody>
      </p:sp>
      <p:sp>
        <p:nvSpPr>
          <p:cNvPr id="8" name="Text 3"/>
          <p:cNvSpPr/>
          <p:nvPr/>
        </p:nvSpPr>
        <p:spPr>
          <a:xfrm>
            <a:off x="714375"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React + TypeScript + Vite + nginx</a:t>
            </a:r>
            <a:endParaRPr lang="en-US" sz="750" dirty="0">
              <a:solidFill>
                <a:schemeClr val="bg1"/>
              </a:solidFill>
            </a:endParaRPr>
          </a:p>
        </p:txBody>
      </p:sp>
      <p:sp>
        <p:nvSpPr>
          <p:cNvPr id="9" name="Shape 4"/>
          <p:cNvSpPr/>
          <p:nvPr/>
        </p:nvSpPr>
        <p:spPr>
          <a:xfrm>
            <a:off x="2607469"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3457575" y="1359098"/>
            <a:ext cx="192881" cy="171450"/>
          </a:xfrm>
          <a:prstGeom prst="rect">
            <a:avLst/>
          </a:prstGeom>
        </p:spPr>
      </p:pic>
      <p:sp>
        <p:nvSpPr>
          <p:cNvPr id="11" name="Text 5"/>
          <p:cNvSpPr/>
          <p:nvPr/>
        </p:nvSpPr>
        <p:spPr>
          <a:xfrm>
            <a:off x="2750344"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Backend</a:t>
            </a:r>
            <a:endParaRPr lang="en-US" sz="900" dirty="0"/>
          </a:p>
        </p:txBody>
      </p:sp>
      <p:sp>
        <p:nvSpPr>
          <p:cNvPr id="12" name="Text 6"/>
          <p:cNvSpPr/>
          <p:nvPr/>
        </p:nvSpPr>
        <p:spPr>
          <a:xfrm>
            <a:off x="2750344"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Java 21 + Spring Boot</a:t>
            </a:r>
            <a:endParaRPr lang="en-US" sz="750" dirty="0">
              <a:solidFill>
                <a:schemeClr val="bg1"/>
              </a:solidFill>
            </a:endParaRPr>
          </a:p>
        </p:txBody>
      </p:sp>
      <p:sp>
        <p:nvSpPr>
          <p:cNvPr id="13" name="Shape 7"/>
          <p:cNvSpPr/>
          <p:nvPr/>
        </p:nvSpPr>
        <p:spPr>
          <a:xfrm>
            <a:off x="4643438"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5482828" y="1359098"/>
            <a:ext cx="214313" cy="171450"/>
          </a:xfrm>
          <a:prstGeom prst="rect">
            <a:avLst/>
          </a:prstGeom>
        </p:spPr>
      </p:pic>
      <p:sp>
        <p:nvSpPr>
          <p:cNvPr id="15" name="Text 8"/>
          <p:cNvSpPr/>
          <p:nvPr/>
        </p:nvSpPr>
        <p:spPr>
          <a:xfrm>
            <a:off x="4786313"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Infrastructure</a:t>
            </a:r>
            <a:endParaRPr lang="en-US" sz="900" dirty="0"/>
          </a:p>
        </p:txBody>
      </p:sp>
      <p:sp>
        <p:nvSpPr>
          <p:cNvPr id="16" name="Text 9"/>
          <p:cNvSpPr/>
          <p:nvPr/>
        </p:nvSpPr>
        <p:spPr>
          <a:xfrm>
            <a:off x="4786313"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Azure + Terraform</a:t>
            </a:r>
            <a:endParaRPr lang="en-US" sz="750" dirty="0">
              <a:solidFill>
                <a:schemeClr val="bg1"/>
              </a:solidFill>
            </a:endParaRPr>
          </a:p>
        </p:txBody>
      </p:sp>
      <p:sp>
        <p:nvSpPr>
          <p:cNvPr id="17" name="Shape 10"/>
          <p:cNvSpPr/>
          <p:nvPr/>
        </p:nvSpPr>
        <p:spPr>
          <a:xfrm>
            <a:off x="6679406"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7518797" y="1359098"/>
            <a:ext cx="214313" cy="171450"/>
          </a:xfrm>
          <a:prstGeom prst="rect">
            <a:avLst/>
          </a:prstGeom>
        </p:spPr>
      </p:pic>
      <p:sp>
        <p:nvSpPr>
          <p:cNvPr id="19" name="Text 11"/>
          <p:cNvSpPr/>
          <p:nvPr/>
        </p:nvSpPr>
        <p:spPr>
          <a:xfrm>
            <a:off x="6822281"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Automation</a:t>
            </a:r>
            <a:endParaRPr lang="en-US" sz="900" dirty="0"/>
          </a:p>
        </p:txBody>
      </p:sp>
      <p:sp>
        <p:nvSpPr>
          <p:cNvPr id="20" name="Text 12"/>
          <p:cNvSpPr/>
          <p:nvPr/>
        </p:nvSpPr>
        <p:spPr>
          <a:xfrm>
            <a:off x="6822281"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Ansible + GitHub Actions</a:t>
            </a:r>
            <a:endParaRPr lang="en-US" sz="750" dirty="0">
              <a:solidFill>
                <a:schemeClr val="bg1"/>
              </a:solidFill>
            </a:endParaRPr>
          </a:p>
        </p:txBody>
      </p:sp>
      <p:sp>
        <p:nvSpPr>
          <p:cNvPr id="21" name="Shape 13"/>
          <p:cNvSpPr/>
          <p:nvPr/>
        </p:nvSpPr>
        <p:spPr>
          <a:xfrm>
            <a:off x="571500" y="2771775"/>
            <a:ext cx="3857625" cy="1571625"/>
          </a:xfrm>
          <a:prstGeom prst="rect">
            <a:avLst/>
          </a:prstGeom>
          <a:solidFill>
            <a:srgbClr val="FFFFFF">
              <a:alpha val="2000"/>
            </a:srgbClr>
          </a:solidFill>
          <a:ln/>
        </p:spPr>
        <p:txBody>
          <a:bodyPr/>
          <a:lstStyle/>
          <a:p>
            <a:endParaRPr lang="en-US"/>
          </a:p>
        </p:txBody>
      </p:sp>
      <p:pic>
        <p:nvPicPr>
          <p:cNvPr id="22" name="Image 5" descr="preencoded.png"/>
          <p:cNvPicPr>
            <a:picLocks noChangeAspect="1"/>
          </p:cNvPicPr>
          <p:nvPr/>
        </p:nvPicPr>
        <p:blipFill>
          <a:blip r:embed="rId8"/>
          <a:stretch>
            <a:fillRect/>
          </a:stretch>
        </p:blipFill>
        <p:spPr>
          <a:xfrm>
            <a:off x="785813" y="3001268"/>
            <a:ext cx="142875" cy="142875"/>
          </a:xfrm>
          <a:prstGeom prst="rect">
            <a:avLst/>
          </a:prstGeom>
        </p:spPr>
      </p:pic>
      <p:sp>
        <p:nvSpPr>
          <p:cNvPr id="23" name="Text 14"/>
          <p:cNvSpPr/>
          <p:nvPr/>
        </p:nvSpPr>
        <p:spPr>
          <a:xfrm>
            <a:off x="1014413" y="2986088"/>
            <a:ext cx="1312664" cy="173236"/>
          </a:xfrm>
          <a:prstGeom prst="rect">
            <a:avLst/>
          </a:prstGeom>
          <a:noFill/>
          <a:ln/>
        </p:spPr>
        <p:txBody>
          <a:bodyPr wrap="square" lIns="0" tIns="0" rIns="0" bIns="0" rtlCol="0" anchor="t">
            <a:spAutoFit/>
          </a:bodyPr>
          <a:lstStyle/>
          <a:p>
            <a:pPr marL="0" indent="0" algn="l">
              <a:buNone/>
            </a:pPr>
            <a:r>
              <a:rPr lang="en-US" sz="1000" b="1" dirty="0">
                <a:solidFill>
                  <a:srgbClr val="00C7BE"/>
                </a:solidFill>
                <a:latin typeface="Inter ExtraBold" pitchFamily="34" charset="0"/>
                <a:ea typeface="Inter ExtraBold" pitchFamily="34" charset="-122"/>
                <a:cs typeface="Inter ExtraBold" pitchFamily="34" charset="-120"/>
              </a:rPr>
              <a:t>What Worked Well</a:t>
            </a:r>
            <a:endParaRPr lang="en-US" sz="1000" dirty="0"/>
          </a:p>
        </p:txBody>
      </p:sp>
      <p:pic>
        <p:nvPicPr>
          <p:cNvPr id="24" name="Image 6" descr="preencoded.png"/>
          <p:cNvPicPr>
            <a:picLocks noChangeAspect="1"/>
          </p:cNvPicPr>
          <p:nvPr/>
        </p:nvPicPr>
        <p:blipFill>
          <a:blip r:embed="rId9"/>
          <a:stretch>
            <a:fillRect/>
          </a:stretch>
        </p:blipFill>
        <p:spPr>
          <a:xfrm>
            <a:off x="785813" y="3328095"/>
            <a:ext cx="75009" cy="85725"/>
          </a:xfrm>
          <a:prstGeom prst="rect">
            <a:avLst/>
          </a:prstGeom>
        </p:spPr>
      </p:pic>
      <p:sp>
        <p:nvSpPr>
          <p:cNvPr id="25" name="Text 15"/>
          <p:cNvSpPr/>
          <p:nvPr/>
        </p:nvSpPr>
        <p:spPr>
          <a:xfrm>
            <a:off x="932259" y="3302198"/>
            <a:ext cx="1705570"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Clear ownership of components</a:t>
            </a:r>
            <a:endParaRPr lang="en-US" sz="850" dirty="0">
              <a:solidFill>
                <a:schemeClr val="bg1"/>
              </a:solidFill>
            </a:endParaRPr>
          </a:p>
        </p:txBody>
      </p:sp>
      <p:pic>
        <p:nvPicPr>
          <p:cNvPr id="26" name="Image 7" descr="preencoded.png"/>
          <p:cNvPicPr>
            <a:picLocks noChangeAspect="1"/>
          </p:cNvPicPr>
          <p:nvPr/>
        </p:nvPicPr>
        <p:blipFill>
          <a:blip r:embed="rId10"/>
          <a:stretch>
            <a:fillRect/>
          </a:stretch>
        </p:blipFill>
        <p:spPr>
          <a:xfrm>
            <a:off x="785813" y="3551337"/>
            <a:ext cx="75009" cy="85725"/>
          </a:xfrm>
          <a:prstGeom prst="rect">
            <a:avLst/>
          </a:prstGeom>
        </p:spPr>
      </p:pic>
      <p:sp>
        <p:nvSpPr>
          <p:cNvPr id="27" name="Text 16"/>
          <p:cNvSpPr/>
          <p:nvPr/>
        </p:nvSpPr>
        <p:spPr>
          <a:xfrm>
            <a:off x="932259" y="3525441"/>
            <a:ext cx="1796653"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Fast collaborative troubleshooting</a:t>
            </a:r>
            <a:endParaRPr lang="en-US" sz="850" dirty="0">
              <a:solidFill>
                <a:schemeClr val="bg1"/>
              </a:solidFill>
            </a:endParaRPr>
          </a:p>
        </p:txBody>
      </p:sp>
      <p:pic>
        <p:nvPicPr>
          <p:cNvPr id="28" name="Image 8" descr="preencoded.png"/>
          <p:cNvPicPr>
            <a:picLocks noChangeAspect="1"/>
          </p:cNvPicPr>
          <p:nvPr/>
        </p:nvPicPr>
        <p:blipFill>
          <a:blip r:embed="rId11"/>
          <a:stretch>
            <a:fillRect/>
          </a:stretch>
        </p:blipFill>
        <p:spPr>
          <a:xfrm>
            <a:off x="785813" y="3774579"/>
            <a:ext cx="75009" cy="85725"/>
          </a:xfrm>
          <a:prstGeom prst="rect">
            <a:avLst/>
          </a:prstGeom>
        </p:spPr>
      </p:pic>
      <p:sp>
        <p:nvSpPr>
          <p:cNvPr id="29" name="Text 17"/>
          <p:cNvSpPr/>
          <p:nvPr/>
        </p:nvSpPr>
        <p:spPr>
          <a:xfrm>
            <a:off x="932259" y="3748683"/>
            <a:ext cx="1646634"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Focus on production principles</a:t>
            </a:r>
            <a:endParaRPr lang="en-US" sz="850" dirty="0">
              <a:solidFill>
                <a:schemeClr val="bg1"/>
              </a:solidFill>
            </a:endParaRPr>
          </a:p>
        </p:txBody>
      </p:sp>
      <p:sp>
        <p:nvSpPr>
          <p:cNvPr id="30" name="Shape 18"/>
          <p:cNvSpPr/>
          <p:nvPr/>
        </p:nvSpPr>
        <p:spPr>
          <a:xfrm>
            <a:off x="4714875" y="2771775"/>
            <a:ext cx="3857625" cy="1571625"/>
          </a:xfrm>
          <a:prstGeom prst="rect">
            <a:avLst/>
          </a:prstGeom>
          <a:solidFill>
            <a:srgbClr val="FFFFFF">
              <a:alpha val="2000"/>
            </a:srgbClr>
          </a:solidFill>
          <a:ln/>
        </p:spPr>
        <p:txBody>
          <a:bodyPr/>
          <a:lstStyle/>
          <a:p>
            <a:endParaRPr lang="en-US"/>
          </a:p>
        </p:txBody>
      </p:sp>
      <p:pic>
        <p:nvPicPr>
          <p:cNvPr id="31" name="Image 9" descr="preencoded.png"/>
          <p:cNvPicPr>
            <a:picLocks noChangeAspect="1"/>
          </p:cNvPicPr>
          <p:nvPr/>
        </p:nvPicPr>
        <p:blipFill>
          <a:blip r:embed="rId12"/>
          <a:stretch>
            <a:fillRect/>
          </a:stretch>
        </p:blipFill>
        <p:spPr>
          <a:xfrm>
            <a:off x="4929188" y="3001268"/>
            <a:ext cx="142875" cy="142875"/>
          </a:xfrm>
          <a:prstGeom prst="rect">
            <a:avLst/>
          </a:prstGeom>
        </p:spPr>
      </p:pic>
      <p:sp>
        <p:nvSpPr>
          <p:cNvPr id="32" name="Text 19"/>
          <p:cNvSpPr/>
          <p:nvPr/>
        </p:nvSpPr>
        <p:spPr>
          <a:xfrm>
            <a:off x="5157788" y="2986088"/>
            <a:ext cx="1516261" cy="173236"/>
          </a:xfrm>
          <a:prstGeom prst="rect">
            <a:avLst/>
          </a:prstGeom>
          <a:noFill/>
          <a:ln/>
        </p:spPr>
        <p:txBody>
          <a:bodyPr wrap="square" lIns="0" tIns="0" rIns="0" bIns="0" rtlCol="0" anchor="t">
            <a:spAutoFit/>
          </a:bodyPr>
          <a:lstStyle/>
          <a:p>
            <a:pPr marL="0" indent="0" algn="l">
              <a:buNone/>
            </a:pPr>
            <a:r>
              <a:rPr lang="en-US" sz="1000" b="1" dirty="0">
                <a:solidFill>
                  <a:srgbClr val="F59E0B"/>
                </a:solidFill>
                <a:latin typeface="Inter ExtraBold" pitchFamily="34" charset="0"/>
                <a:ea typeface="Inter ExtraBold" pitchFamily="34" charset="-122"/>
                <a:cs typeface="Inter ExtraBold" pitchFamily="34" charset="-120"/>
              </a:rPr>
              <a:t>Future Improvements</a:t>
            </a:r>
            <a:endParaRPr lang="en-US" sz="1000" dirty="0"/>
          </a:p>
        </p:txBody>
      </p:sp>
      <p:pic>
        <p:nvPicPr>
          <p:cNvPr id="33" name="Image 10" descr="preencoded.png"/>
          <p:cNvPicPr>
            <a:picLocks noChangeAspect="1"/>
          </p:cNvPicPr>
          <p:nvPr/>
        </p:nvPicPr>
        <p:blipFill>
          <a:blip r:embed="rId13"/>
          <a:stretch>
            <a:fillRect/>
          </a:stretch>
        </p:blipFill>
        <p:spPr>
          <a:xfrm>
            <a:off x="4929188" y="3328095"/>
            <a:ext cx="75009" cy="85725"/>
          </a:xfrm>
          <a:prstGeom prst="rect">
            <a:avLst/>
          </a:prstGeom>
        </p:spPr>
      </p:pic>
      <p:sp>
        <p:nvSpPr>
          <p:cNvPr id="34" name="Text 20"/>
          <p:cNvSpPr/>
          <p:nvPr/>
        </p:nvSpPr>
        <p:spPr>
          <a:xfrm>
            <a:off x="5075634" y="3302198"/>
            <a:ext cx="1375172"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Earlier live demo planning</a:t>
            </a:r>
            <a:endParaRPr lang="en-US" sz="850" dirty="0">
              <a:solidFill>
                <a:schemeClr val="bg1"/>
              </a:solidFill>
            </a:endParaRPr>
          </a:p>
        </p:txBody>
      </p:sp>
      <p:pic>
        <p:nvPicPr>
          <p:cNvPr id="35" name="Image 11" descr="preencoded.png"/>
          <p:cNvPicPr>
            <a:picLocks noChangeAspect="1"/>
          </p:cNvPicPr>
          <p:nvPr/>
        </p:nvPicPr>
        <p:blipFill>
          <a:blip r:embed="rId14"/>
          <a:stretch>
            <a:fillRect/>
          </a:stretch>
        </p:blipFill>
        <p:spPr>
          <a:xfrm>
            <a:off x="4929188" y="3551337"/>
            <a:ext cx="75009" cy="85725"/>
          </a:xfrm>
          <a:prstGeom prst="rect">
            <a:avLst/>
          </a:prstGeom>
        </p:spPr>
      </p:pic>
      <p:sp>
        <p:nvSpPr>
          <p:cNvPr id="36" name="Text 21"/>
          <p:cNvSpPr/>
          <p:nvPr/>
        </p:nvSpPr>
        <p:spPr>
          <a:xfrm>
            <a:off x="5075634" y="3525441"/>
            <a:ext cx="1064394"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Structured task tracking</a:t>
            </a:r>
            <a:endParaRPr lang="en-US" sz="850" dirty="0">
              <a:solidFill>
                <a:schemeClr val="bg1"/>
              </a:solidFill>
            </a:endParaRPr>
          </a:p>
        </p:txBody>
      </p:sp>
      <p:pic>
        <p:nvPicPr>
          <p:cNvPr id="37" name="Image 12" descr="preencoded.png"/>
          <p:cNvPicPr>
            <a:picLocks noChangeAspect="1"/>
          </p:cNvPicPr>
          <p:nvPr/>
        </p:nvPicPr>
        <p:blipFill>
          <a:blip r:embed="rId15"/>
          <a:stretch>
            <a:fillRect/>
          </a:stretch>
        </p:blipFill>
        <p:spPr>
          <a:xfrm>
            <a:off x="4929188" y="3774579"/>
            <a:ext cx="75009" cy="85725"/>
          </a:xfrm>
          <a:prstGeom prst="rect">
            <a:avLst/>
          </a:prstGeom>
        </p:spPr>
      </p:pic>
      <p:sp>
        <p:nvSpPr>
          <p:cNvPr id="38" name="Text 22"/>
          <p:cNvSpPr/>
          <p:nvPr/>
        </p:nvSpPr>
        <p:spPr>
          <a:xfrm>
            <a:off x="5075634" y="3748683"/>
            <a:ext cx="1384102"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Advanced security testing</a:t>
            </a:r>
            <a:endParaRPr lang="en-US" sz="850" dirty="0">
              <a:solidFill>
                <a:schemeClr val="bg1"/>
              </a:solidFill>
            </a:endParaRPr>
          </a:p>
        </p:txBody>
      </p:sp>
      <p:pic>
        <p:nvPicPr>
          <p:cNvPr id="39" name="Picture 38" descr="idda_en_clean2.png"/>
          <p:cNvPicPr>
            <a:picLocks noChangeAspect="1"/>
          </p:cNvPicPr>
          <p:nvPr/>
        </p:nvPicPr>
        <p:blipFill>
          <a:blip r:embed="rId16"/>
          <a:stretch>
            <a:fillRect/>
          </a:stretch>
        </p:blipFill>
        <p:spPr>
          <a:xfrm>
            <a:off x="274320" y="182880"/>
            <a:ext cx="1280160" cy="843999"/>
          </a:xfrm>
          <a:prstGeom prst="rect">
            <a:avLst/>
          </a:prstGeom>
        </p:spPr>
      </p:pic>
      <p:pic>
        <p:nvPicPr>
          <p:cNvPr id="40" name="Picture 39" descr="ironhack.png"/>
          <p:cNvPicPr>
            <a:picLocks noChangeAspect="1"/>
          </p:cNvPicPr>
          <p:nvPr/>
        </p:nvPicPr>
        <p:blipFill>
          <a:blip r:embed="rId17"/>
          <a:stretch>
            <a:fillRect/>
          </a:stretch>
        </p:blipFill>
        <p:spPr>
          <a:xfrm>
            <a:off x="7772400" y="182880"/>
            <a:ext cx="914400" cy="914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756720" y="428625"/>
            <a:ext cx="1630561" cy="414338"/>
          </a:xfrm>
          <a:prstGeom prst="rect">
            <a:avLst/>
          </a:prstGeom>
          <a:noFill/>
          <a:ln/>
        </p:spPr>
        <p:txBody>
          <a:bodyPr wrap="square" lIns="0" tIns="0" rIns="0" bIns="0" rtlCol="0" anchor="t">
            <a:spAutoFit/>
          </a:bodyPr>
          <a:lstStyle/>
          <a:p>
            <a:pPr marL="0" indent="0" algn="ctr">
              <a:buNone/>
            </a:pPr>
            <a:r>
              <a:rPr lang="en-US" sz="2450" b="1" kern="0" spc="-1" dirty="0">
                <a:solidFill>
                  <a:srgbClr val="FFFFFF"/>
                </a:solidFill>
                <a:latin typeface="Inter ExtraBold" pitchFamily="34" charset="0"/>
                <a:ea typeface="Inter ExtraBold" pitchFamily="34" charset="-122"/>
                <a:cs typeface="Inter ExtraBold" pitchFamily="34" charset="-120"/>
              </a:rPr>
              <a:t>Live Proof</a:t>
            </a:r>
            <a:endParaRPr lang="en-US" sz="2450" dirty="0"/>
          </a:p>
        </p:txBody>
      </p:sp>
      <p:sp>
        <p:nvSpPr>
          <p:cNvPr id="5" name="Shape 1"/>
          <p:cNvSpPr/>
          <p:nvPr/>
        </p:nvSpPr>
        <p:spPr>
          <a:xfrm>
            <a:off x="1500188" y="1073907"/>
            <a:ext cx="6143625" cy="2000250"/>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1843088" y="1488244"/>
            <a:ext cx="214313" cy="171450"/>
          </a:xfrm>
          <a:prstGeom prst="rect">
            <a:avLst/>
          </a:prstGeom>
        </p:spPr>
      </p:pic>
      <p:sp>
        <p:nvSpPr>
          <p:cNvPr id="7" name="Text 2"/>
          <p:cNvSpPr/>
          <p:nvPr/>
        </p:nvSpPr>
        <p:spPr>
          <a:xfrm>
            <a:off x="2171700" y="1487351"/>
            <a:ext cx="1668066"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Working Web Application</a:t>
            </a:r>
            <a:endParaRPr lang="en-US" sz="1050" dirty="0">
              <a:solidFill>
                <a:schemeClr val="bg1"/>
              </a:solidFill>
            </a:endParaRPr>
          </a:p>
        </p:txBody>
      </p:sp>
      <p:pic>
        <p:nvPicPr>
          <p:cNvPr id="8" name="Image 2" descr="preencoded.png"/>
          <p:cNvPicPr>
            <a:picLocks noChangeAspect="1"/>
          </p:cNvPicPr>
          <p:nvPr/>
        </p:nvPicPr>
        <p:blipFill>
          <a:blip r:embed="rId5"/>
          <a:stretch>
            <a:fillRect/>
          </a:stretch>
        </p:blipFill>
        <p:spPr>
          <a:xfrm>
            <a:off x="4643438" y="1488244"/>
            <a:ext cx="214313" cy="171450"/>
          </a:xfrm>
          <a:prstGeom prst="rect">
            <a:avLst/>
          </a:prstGeom>
        </p:spPr>
      </p:pic>
      <p:sp>
        <p:nvSpPr>
          <p:cNvPr id="9" name="Text 3"/>
          <p:cNvSpPr/>
          <p:nvPr/>
        </p:nvSpPr>
        <p:spPr>
          <a:xfrm>
            <a:off x="4972050" y="1487351"/>
            <a:ext cx="1734145"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Trusted HTTPS Certificate</a:t>
            </a:r>
            <a:endParaRPr lang="en-US" sz="1050" dirty="0">
              <a:solidFill>
                <a:schemeClr val="bg1"/>
              </a:solidFill>
            </a:endParaRPr>
          </a:p>
        </p:txBody>
      </p:sp>
      <p:pic>
        <p:nvPicPr>
          <p:cNvPr id="10" name="Image 3" descr="preencoded.png"/>
          <p:cNvPicPr>
            <a:picLocks noChangeAspect="1"/>
          </p:cNvPicPr>
          <p:nvPr/>
        </p:nvPicPr>
        <p:blipFill>
          <a:blip r:embed="rId6"/>
          <a:stretch>
            <a:fillRect/>
          </a:stretch>
        </p:blipFill>
        <p:spPr>
          <a:xfrm>
            <a:off x="1843088" y="2116894"/>
            <a:ext cx="214313" cy="171450"/>
          </a:xfrm>
          <a:prstGeom prst="rect">
            <a:avLst/>
          </a:prstGeom>
        </p:spPr>
      </p:pic>
      <p:sp>
        <p:nvSpPr>
          <p:cNvPr id="11" name="Text 4"/>
          <p:cNvSpPr/>
          <p:nvPr/>
        </p:nvSpPr>
        <p:spPr>
          <a:xfrm>
            <a:off x="2171700" y="2116001"/>
            <a:ext cx="1560909"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GitHub Actions Pipeline</a:t>
            </a:r>
            <a:endParaRPr lang="en-US" sz="1050" dirty="0">
              <a:solidFill>
                <a:schemeClr val="bg1"/>
              </a:solidFill>
            </a:endParaRPr>
          </a:p>
        </p:txBody>
      </p:sp>
      <p:pic>
        <p:nvPicPr>
          <p:cNvPr id="12" name="Image 4" descr="preencoded.png"/>
          <p:cNvPicPr>
            <a:picLocks noChangeAspect="1"/>
          </p:cNvPicPr>
          <p:nvPr/>
        </p:nvPicPr>
        <p:blipFill>
          <a:blip r:embed="rId7"/>
          <a:stretch>
            <a:fillRect/>
          </a:stretch>
        </p:blipFill>
        <p:spPr>
          <a:xfrm>
            <a:off x="4643438" y="2116894"/>
            <a:ext cx="214313" cy="171450"/>
          </a:xfrm>
          <a:prstGeom prst="rect">
            <a:avLst/>
          </a:prstGeom>
        </p:spPr>
      </p:pic>
      <p:sp>
        <p:nvSpPr>
          <p:cNvPr id="13" name="Text 5"/>
          <p:cNvSpPr/>
          <p:nvPr/>
        </p:nvSpPr>
        <p:spPr>
          <a:xfrm>
            <a:off x="4972050" y="2116001"/>
            <a:ext cx="1634133"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SonarQube Quality Scan</a:t>
            </a:r>
            <a:endParaRPr lang="en-US" sz="1050" dirty="0">
              <a:solidFill>
                <a:schemeClr val="bg1"/>
              </a:solidFill>
            </a:endParaRPr>
          </a:p>
        </p:txBody>
      </p:sp>
      <p:pic>
        <p:nvPicPr>
          <p:cNvPr id="14" name="Image 5" descr="preencoded.png"/>
          <p:cNvPicPr>
            <a:picLocks noChangeAspect="1"/>
          </p:cNvPicPr>
          <p:nvPr/>
        </p:nvPicPr>
        <p:blipFill>
          <a:blip r:embed="rId8"/>
          <a:stretch>
            <a:fillRect/>
          </a:stretch>
        </p:blipFill>
        <p:spPr>
          <a:xfrm>
            <a:off x="1843088" y="2745544"/>
            <a:ext cx="214313" cy="171450"/>
          </a:xfrm>
          <a:prstGeom prst="rect">
            <a:avLst/>
          </a:prstGeom>
        </p:spPr>
      </p:pic>
      <p:sp>
        <p:nvSpPr>
          <p:cNvPr id="15" name="Text 6"/>
          <p:cNvSpPr/>
          <p:nvPr/>
        </p:nvSpPr>
        <p:spPr>
          <a:xfrm>
            <a:off x="2171700" y="2744651"/>
            <a:ext cx="1703784"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Private Architecture Proof</a:t>
            </a:r>
            <a:endParaRPr lang="en-US" sz="1050" dirty="0">
              <a:solidFill>
                <a:schemeClr val="bg1"/>
              </a:solidFill>
            </a:endParaRPr>
          </a:p>
        </p:txBody>
      </p:sp>
      <p:pic>
        <p:nvPicPr>
          <p:cNvPr id="16" name="Image 6" descr="preencoded.png"/>
          <p:cNvPicPr>
            <a:picLocks noChangeAspect="1"/>
          </p:cNvPicPr>
          <p:nvPr/>
        </p:nvPicPr>
        <p:blipFill>
          <a:blip r:embed="rId9"/>
          <a:stretch>
            <a:fillRect/>
          </a:stretch>
        </p:blipFill>
        <p:spPr>
          <a:xfrm>
            <a:off x="4643438" y="2745544"/>
            <a:ext cx="214313" cy="171450"/>
          </a:xfrm>
          <a:prstGeom prst="rect">
            <a:avLst/>
          </a:prstGeom>
        </p:spPr>
      </p:pic>
      <p:sp>
        <p:nvSpPr>
          <p:cNvPr id="17" name="Text 7"/>
          <p:cNvSpPr/>
          <p:nvPr/>
        </p:nvSpPr>
        <p:spPr>
          <a:xfrm>
            <a:off x="4972050" y="2744651"/>
            <a:ext cx="1086836"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Monitoring &amp; Alerts</a:t>
            </a:r>
            <a:endParaRPr lang="en-US" sz="1050" dirty="0">
              <a:solidFill>
                <a:schemeClr val="bg1"/>
              </a:solidFill>
            </a:endParaRPr>
          </a:p>
        </p:txBody>
      </p:sp>
      <p:sp>
        <p:nvSpPr>
          <p:cNvPr id="18" name="Text 8"/>
          <p:cNvSpPr/>
          <p:nvPr/>
        </p:nvSpPr>
        <p:spPr>
          <a:xfrm>
            <a:off x="1589484" y="3359907"/>
            <a:ext cx="5965031" cy="551561"/>
          </a:xfrm>
          <a:prstGeom prst="rect">
            <a:avLst/>
          </a:prstGeom>
          <a:noFill/>
          <a:ln/>
        </p:spPr>
        <p:txBody>
          <a:bodyPr wrap="square" lIns="0" tIns="0" rIns="0" bIns="0" rtlCol="0" anchor="t">
            <a:spAutoFit/>
          </a:bodyPr>
          <a:lstStyle/>
          <a:p>
            <a:pPr marL="0" indent="0" algn="ctr">
              <a:lnSpc>
                <a:spcPct val="112000"/>
              </a:lnSpc>
              <a:buNone/>
            </a:pPr>
            <a:r>
              <a:rPr lang="en-US" sz="1600" b="1" noProof="1">
                <a:solidFill>
                  <a:srgbClr val="FFFFFF"/>
                </a:solidFill>
                <a:latin typeface="Inter ExtraBold" pitchFamily="34" charset="0"/>
                <a:ea typeface="Inter ExtraBold" pitchFamily="34" charset="-122"/>
                <a:cs typeface="Inter ExtraBold" pitchFamily="34" charset="-120"/>
              </a:rPr>
              <a:t>"We did not only deploy </a:t>
            </a:r>
            <a:r>
              <a:rPr lang="az-Latn-AZ" sz="1600" b="1" noProof="1" smtClean="0">
                <a:solidFill>
                  <a:srgbClr val="FFFFFF"/>
                </a:solidFill>
                <a:latin typeface="Inter ExtraBold" pitchFamily="34" charset="0"/>
                <a:ea typeface="Inter ExtraBold" pitchFamily="34" charset="-122"/>
                <a:cs typeface="Inter ExtraBold" pitchFamily="34" charset="-120"/>
              </a:rPr>
              <a:t>LinkGuardian</a:t>
            </a:r>
            <a:r>
              <a:rPr lang="en-US" sz="1600" b="1" noProof="1" smtClean="0">
                <a:solidFill>
                  <a:srgbClr val="FFFFFF"/>
                </a:solidFill>
                <a:latin typeface="Inter ExtraBold" pitchFamily="34" charset="0"/>
                <a:ea typeface="Inter ExtraBold" pitchFamily="34" charset="-122"/>
                <a:cs typeface="Inter ExtraBold" pitchFamily="34" charset="-120"/>
              </a:rPr>
              <a:t>. </a:t>
            </a:r>
            <a:r>
              <a:rPr lang="en-US" sz="1600" b="1" noProof="1">
                <a:solidFill>
                  <a:srgbClr val="00C7BE"/>
                </a:solidFill>
                <a:latin typeface="Inter ExtraBold" pitchFamily="34" charset="0"/>
                <a:ea typeface="Inter ExtraBold" pitchFamily="34" charset="-122"/>
                <a:cs typeface="Inter ExtraBold" pitchFamily="34" charset="-120"/>
              </a:rPr>
              <a:t>
</a:t>
            </a:r>
            <a:r>
              <a:rPr lang="en-US" sz="1600" b="1" noProof="1">
                <a:solidFill>
                  <a:srgbClr val="FFFFFF"/>
                </a:solidFill>
                <a:latin typeface="Inter ExtraBold" pitchFamily="34" charset="0"/>
                <a:ea typeface="Inter ExtraBold" pitchFamily="34" charset="-122"/>
                <a:cs typeface="Inter ExtraBold" pitchFamily="34" charset="-120"/>
              </a:rPr>
              <a:t>We built the secure cloud delivery system around it."</a:t>
            </a:r>
            <a:endParaRPr lang="en-US" sz="1600" noProof="1"/>
          </a:p>
        </p:txBody>
      </p:sp>
      <p:sp>
        <p:nvSpPr>
          <p:cNvPr id="19" name="Text 9"/>
          <p:cNvSpPr/>
          <p:nvPr/>
        </p:nvSpPr>
        <p:spPr>
          <a:xfrm>
            <a:off x="1589484" y="4142817"/>
            <a:ext cx="5965031" cy="146194"/>
          </a:xfrm>
          <a:prstGeom prst="rect">
            <a:avLst/>
          </a:prstGeom>
          <a:noFill/>
          <a:ln/>
        </p:spPr>
        <p:txBody>
          <a:bodyPr wrap="square" lIns="0" tIns="0" rIns="0" bIns="0" rtlCol="0" anchor="t">
            <a:spAutoFit/>
          </a:bodyPr>
          <a:lstStyle/>
          <a:p>
            <a:pPr marL="0" indent="0" algn="ctr">
              <a:buNone/>
            </a:pPr>
            <a:r>
              <a:rPr lang="en-US" sz="950" kern="0" spc="3" dirty="0">
                <a:solidFill>
                  <a:schemeClr val="bg1"/>
                </a:solidFill>
                <a:latin typeface="Inter Light" pitchFamily="34" charset="0"/>
                <a:ea typeface="Inter Light" pitchFamily="34" charset="-122"/>
                <a:cs typeface="Inter Light" pitchFamily="34" charset="-120"/>
              </a:rPr>
              <a:t>SECURE • AUTOMATED • MONITORED</a:t>
            </a:r>
            <a:endParaRPr lang="en-US" sz="950" dirty="0">
              <a:solidFill>
                <a:schemeClr val="bg1"/>
              </a:solidFill>
            </a:endParaRPr>
          </a:p>
        </p:txBody>
      </p:sp>
      <p:sp>
        <p:nvSpPr>
          <p:cNvPr id="20" name="TextBox 19">
            <a:extLst>
              <a:ext uri="{FF2B5EF4-FFF2-40B4-BE49-F238E27FC236}">
                <a16:creationId xmlns:a16="http://schemas.microsoft.com/office/drawing/2014/main" id="{3085A574-F3ED-FEEA-7992-AE727220FDB9}"/>
              </a:ext>
            </a:extLst>
          </p:cNvPr>
          <p:cNvSpPr txBox="1"/>
          <p:nvPr/>
        </p:nvSpPr>
        <p:spPr>
          <a:xfrm>
            <a:off x="2263139" y="4530209"/>
            <a:ext cx="4617720" cy="369332"/>
          </a:xfrm>
          <a:prstGeom prst="rect">
            <a:avLst/>
          </a:prstGeom>
          <a:noFill/>
        </p:spPr>
        <p:txBody>
          <a:bodyPr wrap="square">
            <a:spAutoFit/>
          </a:bodyPr>
          <a:lstStyle/>
          <a:p>
            <a:pPr algn="ctr"/>
            <a:r>
              <a:rPr lang="en-US" u="sng" dirty="0">
                <a:solidFill>
                  <a:srgbClr val="00B0F0"/>
                </a:solidFill>
              </a:rPr>
              <a:t>https://casp-linkguardian.duckdns.org/</a:t>
            </a:r>
          </a:p>
        </p:txBody>
      </p:sp>
      <p:pic>
        <p:nvPicPr>
          <p:cNvPr id="22" name="Picture 21" descr="idda_en_clean2.png"/>
          <p:cNvPicPr>
            <a:picLocks noChangeAspect="1"/>
          </p:cNvPicPr>
          <p:nvPr/>
        </p:nvPicPr>
        <p:blipFill>
          <a:blip r:embed="rId10"/>
          <a:stretch>
            <a:fillRect/>
          </a:stretch>
        </p:blipFill>
        <p:spPr>
          <a:xfrm>
            <a:off x="220028" y="94764"/>
            <a:ext cx="1280160" cy="843999"/>
          </a:xfrm>
          <a:prstGeom prst="rect">
            <a:avLst/>
          </a:prstGeom>
        </p:spPr>
      </p:pic>
      <p:pic>
        <p:nvPicPr>
          <p:cNvPr id="23" name="Picture 22" descr="ironhack.png"/>
          <p:cNvPicPr>
            <a:picLocks noChangeAspect="1"/>
          </p:cNvPicPr>
          <p:nvPr/>
        </p:nvPicPr>
        <p:blipFill>
          <a:blip r:embed="rId11"/>
          <a:stretch>
            <a:fillRect/>
          </a:stretch>
        </p:blipFill>
        <p:spPr>
          <a:xfrm>
            <a:off x="7772400" y="94764"/>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1870</Words>
  <Application>Microsoft Office PowerPoint</Application>
  <PresentationFormat>On-screen Show (16:9)</PresentationFormat>
  <Paragraphs>185</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Inter ExtraBold</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LinkGuardian Presentation</dc:title>
  <dc:subject>PptxGenJS Presentation</dc:subject>
  <dc:creator>PptxGenJS</dc:creator>
  <cp:lastModifiedBy>revan</cp:lastModifiedBy>
  <cp:revision>22</cp:revision>
  <dcterms:created xsi:type="dcterms:W3CDTF">2026-05-02T17:51:54Z</dcterms:created>
  <dcterms:modified xsi:type="dcterms:W3CDTF">2026-05-03T19:47:46Z</dcterms:modified>
</cp:coreProperties>
</file>